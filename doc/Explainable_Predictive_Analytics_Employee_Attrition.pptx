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Bahnschrift Condensed" panose="020B0502040204020203" pitchFamily="34" charset="0"/>
      <p:regular r:id="rId12"/>
      <p:bold r:id="rId13"/>
    </p:embeddedFont>
    <p:embeddedFont>
      <p:font typeface="IBM Plex Sans" panose="020B0503050203000203" pitchFamily="34" charset="0"/>
      <p:regular r:id="rId14"/>
      <p:bold r:id="rId15"/>
    </p:embeddedFont>
    <p:embeddedFont>
      <p:font typeface="IBM Plex Sans Bold" panose="020B0803050203000203" charset="0"/>
      <p:regular r:id="rId16"/>
    </p:embeddedFont>
    <p:embeddedFont>
      <p:font typeface="IBM Plex Sans SemiBold" panose="020B0703050203000203" pitchFamily="34" charset="0"/>
      <p:bold r:id="rId17"/>
    </p:embeddedFont>
    <p:embeddedFont>
      <p:font typeface="Sora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A55F5-2927-4983-984C-ECAB2E3295A9}">
          <p14:sldIdLst>
            <p14:sldId id="256"/>
            <p14:sldId id="257"/>
            <p14:sldId id="264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Untitled Section" id="{BCF03F8D-6200-4AE1-A627-F9C9376DA84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915" autoAdjust="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ECC02-4309-4E0C-956E-6E9C4EF03C12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E3E61-42FA-44DE-9916-D7523C10F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8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engineering team and project scope. State the core goal: moving beyond black-box classification to transparent, human-in-the-loop decision intelligence for human resource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legacy black-box HR attrition scoring with Explainable AI. Emphasize that knowing an employee might leave is worthless if management cannot discover the specific friction factors to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architectural tiers left to right. Point out how the Explainability Layer acts as the bridge translating mathematical tree ensembles into the end-user Application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trade-off analysis. While Gradient Boosting achieved slightly higher raw accuracy, Random Forest offered reliable tree-ensemble generalization and faster, exact SHAP TreeExplainer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SHAP converts complex tree votes into additive feature contributions. Overtime emerged as the single largest positive predictor of departure across all cohorts.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engineering delivery. This is not just a Jupyter notebook analysis; it is packaged into an operational executive console where HR business partners can triage flight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counterfactual simulation. Instead of passively reading risk scores, managers test hypothetical interventions to identify the lowest-cost, highest-impact retention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reinforcing the project's ethical foundation and technical rigor. Open the floor to the evaluation committee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7375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7721406" cy="6857999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58786" y="558800"/>
            <a:ext cx="3639451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8263" y="636623"/>
            <a:ext cx="3990081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HUMAN-IN-THE-LOOP HR INTELLIGENCE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58786" y="1141500"/>
            <a:ext cx="670543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b="1" kern="100" spc="-72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Explainable Predictive Analytics for Employee Attrition Risk Assessment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58786" y="2798135"/>
            <a:ext cx="6705432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An Explainable AI (XAI) &amp; HR Decision-Support System Powered by ML and SHAP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8786" y="5099102"/>
            <a:ext cx="7162621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DEPARTMENT OF COMPUTER SCIENCE AND INFORMATION TECHNOLOGY · KLEF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8786" y="5491758"/>
            <a:ext cx="2133547" cy="858242"/>
          </a:xfrm>
          <a:prstGeom prst="roundRect">
            <a:avLst>
              <a:gd name="adj" fmla="val 24860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23882" y="5636792"/>
            <a:ext cx="196845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Y Manikanta sai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3882" y="6032238"/>
            <a:ext cx="1968451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2420030082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44729" y="5491758"/>
            <a:ext cx="2133547" cy="858242"/>
          </a:xfrm>
          <a:prstGeom prst="roundRect">
            <a:avLst>
              <a:gd name="adj" fmla="val 24860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009825" y="5636792"/>
            <a:ext cx="196845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 Sai Srujan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9825" y="6032238"/>
            <a:ext cx="1968451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2420030083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30672" y="5491758"/>
            <a:ext cx="2133547" cy="858242"/>
          </a:xfrm>
          <a:prstGeom prst="roundRect">
            <a:avLst>
              <a:gd name="adj" fmla="val 24860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95768" y="5636792"/>
            <a:ext cx="196845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Golla Rahul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95768" y="6032238"/>
            <a:ext cx="1968451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2420040098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429972" y="5494387"/>
            <a:ext cx="2133547" cy="858242"/>
          </a:xfrm>
          <a:prstGeom prst="roundRect">
            <a:avLst>
              <a:gd name="adj" fmla="val 24860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r>
              <a:rPr lang="en-GB" sz="1600" dirty="0" err="1">
                <a:latin typeface="Bahnschrift Condensed" pitchFamily="34" charset="0"/>
              </a:rPr>
              <a:t>Boya</a:t>
            </a:r>
            <a:r>
              <a:rPr lang="en-GB" sz="1600" dirty="0">
                <a:latin typeface="Bahnschrift Condensed" pitchFamily="34" charset="0"/>
              </a:rPr>
              <a:t> </a:t>
            </a:r>
            <a:r>
              <a:rPr lang="en-GB" sz="1600" dirty="0" err="1">
                <a:latin typeface="Bahnschrift Condensed" pitchFamily="34" charset="0"/>
              </a:rPr>
              <a:t>vinay</a:t>
            </a:r>
            <a:endParaRPr lang="en-GB" sz="1600" dirty="0">
              <a:latin typeface="Bahnschrift Condensed" pitchFamily="34" charset="0"/>
            </a:endParaRPr>
          </a:p>
          <a:p>
            <a:r>
              <a:rPr lang="en-GB" sz="1600" dirty="0">
                <a:latin typeface="Bahnschrift Condensed" pitchFamily="34" charset="0"/>
              </a:rPr>
              <a:t>2420090054</a:t>
            </a:r>
            <a:endParaRPr lang="en-IN" sz="1600" dirty="0">
              <a:latin typeface="Bahnschrift Condensed" pitchFamily="34" charset="0"/>
            </a:endParaRPr>
          </a:p>
        </p:txBody>
      </p:sp>
      <p:pic>
        <p:nvPicPr>
          <p:cNvPr id="20" name="Picture 19" descr="9d603baa-48a3-4514-9269-df2f4a641a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119" y="518976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6280"/>
            <a:ext cx="695942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OPERATIONAL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65147"/>
            <a:ext cx="650223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Why Traditional Attrition Prediction Fails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2570758"/>
            <a:ext cx="6502237" cy="224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spcAft>
                <a:spcPts val="1750"/>
              </a:spcAft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The Business Cost: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High turnover raises recruitment costs, causes knowledge loss, and delays projects.</a:t>
            </a:r>
            <a:endParaRPr lang="en-US" sz="1700" dirty="0"/>
          </a:p>
          <a:p>
            <a:pPr marL="0" indent="0" algn="l">
              <a:lnSpc>
                <a:spcPct val="115000"/>
              </a:lnSpc>
              <a:spcAft>
                <a:spcPts val="1750"/>
              </a:spcAft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The Black-Box Dilemma: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Traditional AI predicts “who leaves” without “why”, so HR can't trust or act on it.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The Solution: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XAI combines predictive accuracy with transparent, employee-level reason codes.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82628" y="5820811"/>
            <a:ext cx="617839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“Predictions without explanations cannot support responsible HR decisions.”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786" y="5738515"/>
            <a:ext cx="28574" cy="713184"/>
          </a:xfrm>
          <a:prstGeom prst="roundRect">
            <a:avLst>
              <a:gd name="adj" fmla="val 50000"/>
            </a:avLst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  <p:pic>
        <p:nvPicPr>
          <p:cNvPr id="8" name="Picture 7" descr="9d603baa-48a3-4514-9269-df2f4a641a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1043" y="737073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32F12-C8C5-6AA5-9820-3B9B01D7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9" y="146785"/>
            <a:ext cx="11496501" cy="656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5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40880"/>
            <a:ext cx="1163290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END-TO-END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39747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 Complete 5-Layer Analytical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424710"/>
            <a:ext cx="116329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From structured benchmark intake to real-time decision-support software.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8786" y="2353866"/>
            <a:ext cx="2092967" cy="3250208"/>
          </a:xfrm>
          <a:prstGeom prst="roundRect">
            <a:avLst>
              <a:gd name="adj" fmla="val 1019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98483" y="2518966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8483" y="2821186"/>
            <a:ext cx="1813475" cy="38100"/>
          </a:xfrm>
          <a:prstGeom prst="rect">
            <a:avLst/>
          </a:prstGeom>
          <a:solidFill>
            <a:srgbClr val="1020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8483" y="2999053"/>
            <a:ext cx="181357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Data Layer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8483" y="3479975"/>
            <a:ext cx="1813574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IBM HR benchmark dataset: 1,470 records across 35 multi-modal attributes.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8483" y="4928032"/>
            <a:ext cx="1062507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Input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04050" y="2353866"/>
            <a:ext cx="2092967" cy="3250208"/>
          </a:xfrm>
          <a:prstGeom prst="roundRect">
            <a:avLst>
              <a:gd name="adj" fmla="val 1019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943747" y="2518966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43747" y="2821186"/>
            <a:ext cx="1813475" cy="38100"/>
          </a:xfrm>
          <a:prstGeom prst="rect">
            <a:avLst/>
          </a:prstGeom>
          <a:solidFill>
            <a:srgbClr val="1020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43747" y="2999053"/>
            <a:ext cx="181357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Preprocessing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43747" y="3479975"/>
            <a:ext cx="1813574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One-Hot Encoding, StandardScaler normalization, and 80/20 stratified partition.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43747" y="4928032"/>
            <a:ext cx="90842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ETL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49314" y="2353866"/>
            <a:ext cx="2092967" cy="3250208"/>
          </a:xfrm>
          <a:prstGeom prst="roundRect">
            <a:avLst>
              <a:gd name="adj" fmla="val 1019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189011" y="2518966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189011" y="2821186"/>
            <a:ext cx="1813475" cy="38100"/>
          </a:xfrm>
          <a:prstGeom prst="rect">
            <a:avLst/>
          </a:prstGeom>
          <a:solidFill>
            <a:srgbClr val="1020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189011" y="2999053"/>
            <a:ext cx="181357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ML Modeling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89011" y="3479975"/>
            <a:ext cx="1813574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Benchmarked Logistic Regression, Decision Tree, Random Forest, and Gradient Boosting.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9011" y="4928032"/>
            <a:ext cx="1195060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Models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294578" y="2353866"/>
            <a:ext cx="2092967" cy="3250208"/>
          </a:xfrm>
          <a:prstGeom prst="roundRect">
            <a:avLst>
              <a:gd name="adj" fmla="val 1019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434275" y="2518966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434275" y="2821186"/>
            <a:ext cx="1813475" cy="38100"/>
          </a:xfrm>
          <a:prstGeom prst="rect">
            <a:avLst/>
          </a:prstGeom>
          <a:solidFill>
            <a:srgbClr val="1020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434275" y="2999053"/>
            <a:ext cx="181357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Explainability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34275" y="3479975"/>
            <a:ext cx="1813574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SHAP TreeExplainer: global rankings and driver weights, individual per-employee attributions.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34275" y="4928032"/>
            <a:ext cx="917750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XAI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539843" y="2353866"/>
            <a:ext cx="2093066" cy="3250208"/>
          </a:xfrm>
          <a:prstGeom prst="roundRect">
            <a:avLst>
              <a:gd name="adj" fmla="val 10193"/>
            </a:avLst>
          </a:prstGeom>
          <a:solidFill>
            <a:srgbClr val="F26A3D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679539" y="2518966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79539" y="2821186"/>
            <a:ext cx="1813673" cy="38100"/>
          </a:xfrm>
          <a:prstGeom prst="rect">
            <a:avLst/>
          </a:prstGeom>
          <a:solidFill>
            <a:srgbClr val="1020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679539" y="2999053"/>
            <a:ext cx="181367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Application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79539" y="3479975"/>
            <a:ext cx="1813673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Interactive React UI and FastAPI REST decision support dashboard for scenario simulation and logging.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79539" y="5095478"/>
            <a:ext cx="1161227" cy="343495"/>
          </a:xfrm>
          <a:prstGeom prst="roundRect">
            <a:avLst>
              <a:gd name="adj" fmla="val 49999"/>
            </a:avLst>
          </a:prstGeom>
          <a:solidFill>
            <a:srgbClr val="D2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809016" y="5173301"/>
            <a:ext cx="1511857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Interactive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8786" y="6248138"/>
            <a:ext cx="11632909" cy="260548"/>
          </a:xfrm>
          <a:prstGeom prst="rect">
            <a:avLst/>
          </a:prstGeom>
          <a:noFill/>
          <a:ln/>
        </p:spPr>
        <p:txBody>
          <a:bodyPr wrap="none" lIns="0" tIns="63498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Evaluated across stratified 80/20 train-test splits ensuring class distribution consistency.</a:t>
            </a:r>
            <a:endParaRPr lang="en-US" sz="1100" dirty="0"/>
          </a:p>
        </p:txBody>
      </p:sp>
      <p:pic>
        <p:nvPicPr>
          <p:cNvPr id="37" name="Picture 36" descr="9d603baa-48a3-4514-9269-df2f4a641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654" y="711787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40880"/>
            <a:ext cx="728108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MODEL EVALUATION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39747"/>
            <a:ext cx="7281085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Random Forest Wins on Balance and Explainability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882406"/>
            <a:ext cx="728108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Evaluated on 294 held-out test samples under identical stratified conditions.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92267" y="1279922"/>
            <a:ext cx="2451336" cy="343495"/>
          </a:xfrm>
          <a:prstGeom prst="roundRect">
            <a:avLst>
              <a:gd name="adj" fmla="val 49999"/>
            </a:avLst>
          </a:prstGeom>
          <a:solidFill>
            <a:srgbClr val="F26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121744" y="1357744"/>
            <a:ext cx="2801967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Production Selected Model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624038"/>
          <a:ext cx="11074124" cy="2209943"/>
        </p:xfrm>
        <a:graphic>
          <a:graphicData uri="http://schemas.openxmlformats.org/drawingml/2006/table">
            <a:tbl>
              <a:tblPr/>
              <a:tblGrid>
                <a:gridCol w="276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7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Algorithm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Accuracy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Precision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Recall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F1-Score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ROC-AUC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9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Random Forest (Selected)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82.65%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45.24%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—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42.70%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78.55%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Logistic Regression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75.51%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35.63%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65.96%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(High Sensitivity)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46.27%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80.35%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9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Decision Tree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77.21%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34.48%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—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42.74%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65.17%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Gradient Boosting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85.03%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57.89%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—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48.35%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81.46%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8786" y="5732463"/>
            <a:ext cx="11074123" cy="769938"/>
          </a:xfrm>
          <a:prstGeom prst="roundRect">
            <a:avLst>
              <a:gd name="adj" fmla="val 27711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4681" y="5877497"/>
            <a:ext cx="10642334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Key Architectural Rationale:</a:t>
            </a: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Random Forest was chosen for optimal generalization stability and seamless compatibility with native SHAP TreeExplainer, preventing extreme decision boundary shifts common in high-learning-rate boosters.</a:t>
            </a:r>
            <a:endParaRPr lang="en-US" sz="1400" dirty="0"/>
          </a:p>
        </p:txBody>
      </p:sp>
      <p:pic>
        <p:nvPicPr>
          <p:cNvPr id="10" name="Picture 9" descr="9d603baa-48a3-4514-9269-df2f4a641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432" y="629888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40880"/>
            <a:ext cx="1163290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FEATURE ATTRIBUTION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39747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Peeking Inside the Model with SHAP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424710"/>
            <a:ext cx="116329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Global feature importance alongside individual force decomposition.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58786" y="1954974"/>
            <a:ext cx="601627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Global SHAP Importance Drivers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395637"/>
            <a:ext cx="5841854" cy="330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86" y="5805523"/>
            <a:ext cx="6016276" cy="260548"/>
          </a:xfrm>
          <a:prstGeom prst="rect">
            <a:avLst/>
          </a:prstGeom>
          <a:noFill/>
          <a:ln/>
        </p:spPr>
        <p:txBody>
          <a:bodyPr wrap="none" lIns="0" tIns="63498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Computed across 1,470 records via TreeExplainer game-theoretic Shapley values.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32151" y="2200970"/>
            <a:ext cx="4600758" cy="1946374"/>
          </a:xfrm>
          <a:prstGeom prst="roundRect">
            <a:avLst>
              <a:gd name="adj" fmla="val 10962"/>
            </a:avLst>
          </a:prstGeom>
          <a:solidFill>
            <a:srgbClr val="F26A3D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222647" y="2376357"/>
            <a:ext cx="421976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Risk Pushers (+ Forces)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22647" y="2851944"/>
            <a:ext cx="421976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Overtime (Yes):</a:t>
            </a: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Primary positive driver of turnover risk (+0.0532 SHAP).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Low Stock Options:</a:t>
            </a: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Tier 0/1 equity accelerates exit velocity among senior staff.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32151" y="4299744"/>
            <a:ext cx="4600758" cy="1946374"/>
          </a:xfrm>
          <a:prstGeom prst="roundRect">
            <a:avLst>
              <a:gd name="adj" fmla="val 10962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222647" y="4475131"/>
            <a:ext cx="421976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Protective Anchors (− Forces)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22647" y="4950718"/>
            <a:ext cx="421976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Manager Tenure:</a:t>
            </a: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Extended rapport with immediate supervisor acts as retention buffer.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Competitive Income:</a:t>
            </a: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Market-aligned salary mitigates outside recruiter attraction.</a:t>
            </a:r>
            <a:endParaRPr lang="en-US" sz="1400" dirty="0"/>
          </a:p>
        </p:txBody>
      </p:sp>
      <p:pic>
        <p:nvPicPr>
          <p:cNvPr id="14" name="Picture 13" descr="9d603baa-48a3-4514-9269-df2f4a641a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253" y="614017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rgbClr val="083C3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865882"/>
            <a:ext cx="4825879" cy="5126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2653" y="466280"/>
            <a:ext cx="6299042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PRODUCTION IMPLEMENTATION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892653" y="765147"/>
            <a:ext cx="5791055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Turning Machine Learning into Practical HR Software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892653" y="2379365"/>
            <a:ext cx="5791055" cy="1255812"/>
          </a:xfrm>
          <a:prstGeom prst="roundRect">
            <a:avLst>
              <a:gd name="adj" fmla="val 1698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083148" y="2529352"/>
            <a:ext cx="541006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Executive Risk Radar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83148" y="3010273"/>
            <a:ext cx="5410065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Live enterprise-wide KPI tracking, 16.1% baseline turnover benchmark, and department vulnerability heatmaps.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2653" y="3787577"/>
            <a:ext cx="5791055" cy="1255812"/>
          </a:xfrm>
          <a:prstGeom prst="roundRect">
            <a:avLst>
              <a:gd name="adj" fmla="val 1698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083148" y="3937564"/>
            <a:ext cx="541006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Filterable Workforce Directory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083148" y="4418485"/>
            <a:ext cx="5410065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Instant cohort sorting by role, overtime flags, and calibrated risk tiers: Low (&lt;30%), Medium (30–59%), High (≥60%).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2653" y="5195788"/>
            <a:ext cx="5791055" cy="1255812"/>
          </a:xfrm>
          <a:prstGeom prst="roundRect">
            <a:avLst>
              <a:gd name="adj" fmla="val 1698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083148" y="5345775"/>
            <a:ext cx="541006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Modern Technology Stack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83148" y="5826697"/>
            <a:ext cx="5410065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Vite + React + Tailwind CSS client, Python FastAPI asynchronous REST endpoints, and SQLAlchemy ORM on SQLite.</a:t>
            </a:r>
            <a:endParaRPr lang="en-US" sz="1400" dirty="0"/>
          </a:p>
        </p:txBody>
      </p:sp>
      <p:pic>
        <p:nvPicPr>
          <p:cNvPr id="15" name="Picture 14" descr="9d603baa-48a3-4514-9269-df2f4a641a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105" y="328155"/>
            <a:ext cx="1275348" cy="469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13880"/>
            <a:ext cx="761980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DECISION SIMULATION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12747"/>
            <a:ext cx="726421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Proactive Intervention Before Resignations Occur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755406"/>
            <a:ext cx="76198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Simulating policy changes to measure risk reduction before taking action.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7987" y="2275384"/>
            <a:ext cx="7264218" cy="1326059"/>
          </a:xfrm>
          <a:prstGeom prst="roundRect">
            <a:avLst>
              <a:gd name="adj" fmla="val 1608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98483" y="2425371"/>
            <a:ext cx="688322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Interactive Counterfactual Testing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483" y="2907054"/>
            <a:ext cx="688322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HR tests employee-level policy changes: removing overtime, a +15% salary raise, and hybrid work; risk is re-scored in real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7987" y="3753842"/>
            <a:ext cx="7264218" cy="1326059"/>
          </a:xfrm>
          <a:prstGeom prst="roundRect">
            <a:avLst>
              <a:gd name="adj" fmla="val 16089"/>
            </a:avLst>
          </a:prstGeom>
          <a:solidFill>
            <a:srgbClr val="083C35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8483" y="3903829"/>
            <a:ext cx="688322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Case Example: Workload Rebalancing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8483" y="4385512"/>
            <a:ext cx="688322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Eliminating mandatory overtime reduces high-risk technical staff flight probability by up to </a:t>
            </a:r>
            <a:r>
              <a:rPr lang="en-US" sz="16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23–35%</a:t>
            </a: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instantly in the model.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987" y="5232301"/>
            <a:ext cx="7264218" cy="1326059"/>
          </a:xfrm>
          <a:prstGeom prst="roundRect">
            <a:avLst>
              <a:gd name="adj" fmla="val 1608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8483" y="5382288"/>
            <a:ext cx="688322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Proactive Retention Logging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8483" y="5863971"/>
            <a:ext cx="688322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Workload balancing, compensation parity, and skip-level check-ins are tracked in the database with scheduled 30-day reviews.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63159"/>
          </a:xfrm>
          <a:prstGeom prst="rect">
            <a:avLst/>
          </a:prstGeom>
        </p:spPr>
      </p:pic>
      <p:pic>
        <p:nvPicPr>
          <p:cNvPr id="15" name="Picture 14" descr="9d603baa-48a3-4514-9269-df2f4a641a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746" y="612747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254000"/>
            <a:ext cx="3304299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8263" y="331823"/>
            <a:ext cx="3654929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ACADEMIC &amp; ETHICAL GOVERNANCE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729512"/>
            <a:ext cx="11074123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200" b="1" kern="100" spc="-64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Human-Centered AI for the Future Workplace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58786" y="1390281"/>
            <a:ext cx="116329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Balancing machine intelligence with ethical accountability and organizational care.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58786" y="1910259"/>
            <a:ext cx="5384665" cy="4023221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0080" y="2136446"/>
            <a:ext cx="490207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Responsible AI Principles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080" y="2612033"/>
            <a:ext cx="4902077" cy="280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Attribution is not causation: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Predictions guide supportive dialogue, never automated firing or disciplinary action.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Data Minimization: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Predictions exclude sensitive personal protected classes; models process job-relevant operational attributes.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Human Oversight: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Retention actions require informed human judgment, active consent, and empathetic dialogue.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1910259"/>
            <a:ext cx="5384665" cy="4023221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89538" y="2136446"/>
            <a:ext cx="4902077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Project Summary &amp; Impact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9538" y="2612033"/>
            <a:ext cx="4902077" cy="310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Explainability Bridge: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Connects random forest ensembles to interpretable local SHAP decision paths, bridging machine learning with human interpretability.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Full-Stack Delivery: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A production-ready React and FastAPI decision-support platform for modern HR management.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Actionable Retention: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Shifted HR from reactive exit interviews to quantifiable, proactive retention.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8786" y="6269966"/>
            <a:ext cx="738268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Department of Computer Science and Information Technology · KLEF · 2026 Academic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41469" y="6263680"/>
            <a:ext cx="1946524" cy="343495"/>
          </a:xfrm>
          <a:prstGeom prst="roundRect">
            <a:avLst>
              <a:gd name="adj" fmla="val 49999"/>
            </a:avLst>
          </a:prstGeom>
          <a:solidFill>
            <a:srgbClr val="D2F9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70946" y="6341502"/>
            <a:ext cx="229715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Ready for Evaluation</a:t>
            </a:r>
            <a:endParaRPr lang="en-US" sz="1350" dirty="0"/>
          </a:p>
        </p:txBody>
      </p:sp>
      <p:pic>
        <p:nvPicPr>
          <p:cNvPr id="15" name="Picture 14" descr="9d603baa-48a3-4514-9269-df2f4a641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44" y="729512"/>
            <a:ext cx="1691640" cy="622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984</Words>
  <Application>Microsoft Office PowerPoint</Application>
  <PresentationFormat>Widescreen</PresentationFormat>
  <Paragraphs>135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IBM Plex Sans SemiBold</vt:lpstr>
      <vt:lpstr>Sora Bold</vt:lpstr>
      <vt:lpstr>IBM Plex Sans</vt:lpstr>
      <vt:lpstr>IBM Plex Sans Bold</vt:lpstr>
      <vt:lpstr>Calibri</vt:lpstr>
      <vt:lpstr>Arial</vt:lpstr>
      <vt:lpstr>Bahnschrift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manikanta sai yerrolla</cp:lastModifiedBy>
  <cp:revision>4</cp:revision>
  <dcterms:created xsi:type="dcterms:W3CDTF">2026-10-29T04:20:29Z</dcterms:created>
  <dcterms:modified xsi:type="dcterms:W3CDTF">2026-10-29T05:27:41Z</dcterms:modified>
</cp:coreProperties>
</file>