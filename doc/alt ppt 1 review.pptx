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2" r:id="rId7"/>
    <p:sldId id="266" r:id="rId8"/>
    <p:sldId id="267" r:id="rId9"/>
    <p:sldId id="268" r:id="rId10"/>
    <p:sldId id="269" r:id="rId11"/>
    <p:sldId id="270" r:id="rId12"/>
    <p:sldId id="265" r:id="rId13"/>
  </p:sldIdLst>
  <p:sldSz cx="18288000" cy="10287000"/>
  <p:notesSz cx="18288000" cy="10287000"/>
  <p:defaultTextStyle>
    <a:defPPr>
      <a:defRPr kern="0"/>
    </a:def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BF0A59-82A1-4CC4-B07E-CF4EEB295F61}" v="20" dt="2026-08-13T05:17:00.40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9" d="100"/>
          <a:sy n="59" d="100"/>
        </p:scale>
        <p:origin x="-418" y="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ky Reddy" userId="ef3f0dcc33b06e9d" providerId="LiveId" clId="{13ED6335-F75A-4CE8-B44E-5F1F53466513}"/>
    <pc:docChg chg="modSld">
      <pc:chgData name="Lucky Reddy" userId="ef3f0dcc33b06e9d" providerId="LiveId" clId="{13ED6335-F75A-4CE8-B44E-5F1F53466513}" dt="2026-08-13T05:17:07.883" v="66" actId="1076"/>
      <pc:docMkLst>
        <pc:docMk/>
      </pc:docMkLst>
      <pc:sldChg chg="addSp modSp mod">
        <pc:chgData name="Lucky Reddy" userId="ef3f0dcc33b06e9d" providerId="LiveId" clId="{13ED6335-F75A-4CE8-B44E-5F1F53466513}" dt="2026-08-13T05:17:07.883" v="66" actId="1076"/>
        <pc:sldMkLst>
          <pc:docMk/>
          <pc:sldMk cId="0" sldId="256"/>
        </pc:sldMkLst>
        <pc:spChg chg="mod">
          <ac:chgData name="Lucky Reddy" userId="ef3f0dcc33b06e9d" providerId="LiveId" clId="{13ED6335-F75A-4CE8-B44E-5F1F53466513}" dt="2026-08-13T05:15:25.190" v="40" actId="1076"/>
          <ac:spMkLst>
            <pc:docMk/>
            <pc:sldMk cId="0" sldId="256"/>
            <ac:spMk id="2" creationId="{00000000-0000-0000-0000-000000000000}"/>
          </ac:spMkLst>
        </pc:spChg>
        <pc:picChg chg="add mod">
          <ac:chgData name="Lucky Reddy" userId="ef3f0dcc33b06e9d" providerId="LiveId" clId="{13ED6335-F75A-4CE8-B44E-5F1F53466513}" dt="2026-08-13T05:17:07.883" v="66" actId="1076"/>
          <ac:picMkLst>
            <pc:docMk/>
            <pc:sldMk cId="0" sldId="256"/>
            <ac:picMk id="4" creationId="{93167596-D433-A9A6-86D8-95713A1E1148}"/>
          </ac:picMkLst>
        </pc:picChg>
      </pc:sldChg>
      <pc:sldChg chg="addSp modSp mod">
        <pc:chgData name="Lucky Reddy" userId="ef3f0dcc33b06e9d" providerId="LiveId" clId="{13ED6335-F75A-4CE8-B44E-5F1F53466513}" dt="2026-08-13T05:15:52.927" v="44" actId="1076"/>
        <pc:sldMkLst>
          <pc:docMk/>
          <pc:sldMk cId="0" sldId="258"/>
        </pc:sldMkLst>
        <pc:picChg chg="add mod">
          <ac:chgData name="Lucky Reddy" userId="ef3f0dcc33b06e9d" providerId="LiveId" clId="{13ED6335-F75A-4CE8-B44E-5F1F53466513}" dt="2026-08-13T05:15:52.927" v="44" actId="1076"/>
          <ac:picMkLst>
            <pc:docMk/>
            <pc:sldMk cId="0" sldId="258"/>
            <ac:picMk id="3" creationId="{9766CB19-21DE-EBE2-24ED-5977A49651CF}"/>
          </ac:picMkLst>
        </pc:picChg>
      </pc:sldChg>
      <pc:sldChg chg="addSp modSp">
        <pc:chgData name="Lucky Reddy" userId="ef3f0dcc33b06e9d" providerId="LiveId" clId="{13ED6335-F75A-4CE8-B44E-5F1F53466513}" dt="2026-08-13T05:15:59.722" v="46" actId="1076"/>
        <pc:sldMkLst>
          <pc:docMk/>
          <pc:sldMk cId="0" sldId="259"/>
        </pc:sldMkLst>
        <pc:picChg chg="add mod">
          <ac:chgData name="Lucky Reddy" userId="ef3f0dcc33b06e9d" providerId="LiveId" clId="{13ED6335-F75A-4CE8-B44E-5F1F53466513}" dt="2026-08-13T05:15:59.722" v="46" actId="1076"/>
          <ac:picMkLst>
            <pc:docMk/>
            <pc:sldMk cId="0" sldId="259"/>
            <ac:picMk id="3" creationId="{096C54A6-926D-10D1-4350-36E4A5E2FE15}"/>
          </ac:picMkLst>
        </pc:picChg>
      </pc:sldChg>
      <pc:sldChg chg="addSp modSp mod">
        <pc:chgData name="Lucky Reddy" userId="ef3f0dcc33b06e9d" providerId="LiveId" clId="{13ED6335-F75A-4CE8-B44E-5F1F53466513}" dt="2026-08-13T05:16:05.432" v="48" actId="1076"/>
        <pc:sldMkLst>
          <pc:docMk/>
          <pc:sldMk cId="0" sldId="260"/>
        </pc:sldMkLst>
        <pc:spChg chg="mod">
          <ac:chgData name="Lucky Reddy" userId="ef3f0dcc33b06e9d" providerId="LiveId" clId="{13ED6335-F75A-4CE8-B44E-5F1F53466513}" dt="2026-08-13T05:11:24.493" v="39" actId="1076"/>
          <ac:spMkLst>
            <pc:docMk/>
            <pc:sldMk cId="0" sldId="260"/>
            <ac:spMk id="2" creationId="{00000000-0000-0000-0000-000000000000}"/>
          </ac:spMkLst>
        </pc:spChg>
        <pc:spChg chg="mod">
          <ac:chgData name="Lucky Reddy" userId="ef3f0dcc33b06e9d" providerId="LiveId" clId="{13ED6335-F75A-4CE8-B44E-5F1F53466513}" dt="2026-08-13T05:01:14.399" v="38" actId="20577"/>
          <ac:spMkLst>
            <pc:docMk/>
            <pc:sldMk cId="0" sldId="260"/>
            <ac:spMk id="16" creationId="{5A1D1F86-1B7A-17B3-3087-A59DF7050F05}"/>
          </ac:spMkLst>
        </pc:spChg>
        <pc:picChg chg="add mod">
          <ac:chgData name="Lucky Reddy" userId="ef3f0dcc33b06e9d" providerId="LiveId" clId="{13ED6335-F75A-4CE8-B44E-5F1F53466513}" dt="2026-08-13T05:16:05.432" v="48" actId="1076"/>
          <ac:picMkLst>
            <pc:docMk/>
            <pc:sldMk cId="0" sldId="260"/>
            <ac:picMk id="3" creationId="{096C54A6-926D-10D1-4350-36E4A5E2FE15}"/>
          </ac:picMkLst>
        </pc:picChg>
      </pc:sldChg>
      <pc:sldChg chg="addSp modSp">
        <pc:chgData name="Lucky Reddy" userId="ef3f0dcc33b06e9d" providerId="LiveId" clId="{13ED6335-F75A-4CE8-B44E-5F1F53466513}" dt="2026-08-13T05:16:11.662" v="50" actId="1076"/>
        <pc:sldMkLst>
          <pc:docMk/>
          <pc:sldMk cId="0" sldId="261"/>
        </pc:sldMkLst>
        <pc:picChg chg="add mod">
          <ac:chgData name="Lucky Reddy" userId="ef3f0dcc33b06e9d" providerId="LiveId" clId="{13ED6335-F75A-4CE8-B44E-5F1F53466513}" dt="2026-08-13T05:16:11.662" v="50" actId="1076"/>
          <ac:picMkLst>
            <pc:docMk/>
            <pc:sldMk cId="0" sldId="261"/>
            <ac:picMk id="2" creationId="{096C54A6-926D-10D1-4350-36E4A5E2FE15}"/>
          </ac:picMkLst>
        </pc:picChg>
      </pc:sldChg>
      <pc:sldChg chg="addSp modSp">
        <pc:chgData name="Lucky Reddy" userId="ef3f0dcc33b06e9d" providerId="LiveId" clId="{13ED6335-F75A-4CE8-B44E-5F1F53466513}" dt="2026-08-13T05:16:24.667" v="52" actId="1076"/>
        <pc:sldMkLst>
          <pc:docMk/>
          <pc:sldMk cId="0" sldId="262"/>
        </pc:sldMkLst>
        <pc:picChg chg="add mod">
          <ac:chgData name="Lucky Reddy" userId="ef3f0dcc33b06e9d" providerId="LiveId" clId="{13ED6335-F75A-4CE8-B44E-5F1F53466513}" dt="2026-08-13T05:16:24.667" v="52" actId="1076"/>
          <ac:picMkLst>
            <pc:docMk/>
            <pc:sldMk cId="0" sldId="262"/>
            <ac:picMk id="2" creationId="{096C54A6-926D-10D1-4350-36E4A5E2FE15}"/>
          </ac:picMkLst>
        </pc:picChg>
      </pc:sldChg>
      <pc:sldChg chg="addSp modSp">
        <pc:chgData name="Lucky Reddy" userId="ef3f0dcc33b06e9d" providerId="LiveId" clId="{13ED6335-F75A-4CE8-B44E-5F1F53466513}" dt="2026-08-13T05:17:00.404" v="65" actId="1076"/>
        <pc:sldMkLst>
          <pc:docMk/>
          <pc:sldMk cId="0" sldId="265"/>
        </pc:sldMkLst>
        <pc:picChg chg="add mod">
          <ac:chgData name="Lucky Reddy" userId="ef3f0dcc33b06e9d" providerId="LiveId" clId="{13ED6335-F75A-4CE8-B44E-5F1F53466513}" dt="2026-08-13T05:17:00.404" v="65" actId="1076"/>
          <ac:picMkLst>
            <pc:docMk/>
            <pc:sldMk cId="0" sldId="265"/>
            <ac:picMk id="2" creationId="{096C54A6-926D-10D1-4350-36E4A5E2FE15}"/>
          </ac:picMkLst>
        </pc:picChg>
      </pc:sldChg>
      <pc:sldChg chg="addSp modSp">
        <pc:chgData name="Lucky Reddy" userId="ef3f0dcc33b06e9d" providerId="LiveId" clId="{13ED6335-F75A-4CE8-B44E-5F1F53466513}" dt="2026-08-13T05:16:29.379" v="54" actId="1076"/>
        <pc:sldMkLst>
          <pc:docMk/>
          <pc:sldMk cId="3272743046" sldId="266"/>
        </pc:sldMkLst>
        <pc:picChg chg="add mod">
          <ac:chgData name="Lucky Reddy" userId="ef3f0dcc33b06e9d" providerId="LiveId" clId="{13ED6335-F75A-4CE8-B44E-5F1F53466513}" dt="2026-08-13T05:16:29.379" v="54" actId="1076"/>
          <ac:picMkLst>
            <pc:docMk/>
            <pc:sldMk cId="3272743046" sldId="266"/>
            <ac:picMk id="4" creationId="{096C54A6-926D-10D1-4350-36E4A5E2FE15}"/>
          </ac:picMkLst>
        </pc:picChg>
      </pc:sldChg>
      <pc:sldChg chg="addSp modSp mod">
        <pc:chgData name="Lucky Reddy" userId="ef3f0dcc33b06e9d" providerId="LiveId" clId="{13ED6335-F75A-4CE8-B44E-5F1F53466513}" dt="2026-08-13T05:16:35.179" v="57" actId="1036"/>
        <pc:sldMkLst>
          <pc:docMk/>
          <pc:sldMk cId="3258828638" sldId="267"/>
        </pc:sldMkLst>
        <pc:spChg chg="mod">
          <ac:chgData name="Lucky Reddy" userId="ef3f0dcc33b06e9d" providerId="LiveId" clId="{13ED6335-F75A-4CE8-B44E-5F1F53466513}" dt="2026-08-13T05:16:35.179" v="57" actId="1036"/>
          <ac:spMkLst>
            <pc:docMk/>
            <pc:sldMk cId="3258828638" sldId="267"/>
            <ac:spMk id="3" creationId="{9D8425CC-4E3F-B0AE-1EA8-E4470AC41172}"/>
          </ac:spMkLst>
        </pc:spChg>
        <pc:picChg chg="add mod">
          <ac:chgData name="Lucky Reddy" userId="ef3f0dcc33b06e9d" providerId="LiveId" clId="{13ED6335-F75A-4CE8-B44E-5F1F53466513}" dt="2026-08-13T05:16:33.661" v="56" actId="1076"/>
          <ac:picMkLst>
            <pc:docMk/>
            <pc:sldMk cId="3258828638" sldId="267"/>
            <ac:picMk id="4" creationId="{096C54A6-926D-10D1-4350-36E4A5E2FE15}"/>
          </ac:picMkLst>
        </pc:picChg>
      </pc:sldChg>
      <pc:sldChg chg="addSp delSp modSp">
        <pc:chgData name="Lucky Reddy" userId="ef3f0dcc33b06e9d" providerId="LiveId" clId="{13ED6335-F75A-4CE8-B44E-5F1F53466513}" dt="2026-08-13T05:16:43.258" v="59" actId="1076"/>
        <pc:sldMkLst>
          <pc:docMk/>
          <pc:sldMk cId="1669760617" sldId="268"/>
        </pc:sldMkLst>
        <pc:picChg chg="add mod">
          <ac:chgData name="Lucky Reddy" userId="ef3f0dcc33b06e9d" providerId="LiveId" clId="{13ED6335-F75A-4CE8-B44E-5F1F53466513}" dt="2026-08-13T05:16:43.258" v="59" actId="1076"/>
          <ac:picMkLst>
            <pc:docMk/>
            <pc:sldMk cId="1669760617" sldId="268"/>
            <ac:picMk id="4" creationId="{096C54A6-926D-10D1-4350-36E4A5E2FE15}"/>
          </ac:picMkLst>
        </pc:picChg>
        <pc:picChg chg="del">
          <ac:chgData name="Lucky Reddy" userId="ef3f0dcc33b06e9d" providerId="LiveId" clId="{13ED6335-F75A-4CE8-B44E-5F1F53466513}" dt="2026-08-12T04:39:10.034" v="0" actId="21"/>
          <ac:picMkLst>
            <pc:docMk/>
            <pc:sldMk cId="1669760617" sldId="268"/>
            <ac:picMk id="5" creationId="{096C54A6-926D-10D1-4350-36E4A5E2FE15}"/>
          </ac:picMkLst>
        </pc:picChg>
      </pc:sldChg>
      <pc:sldChg chg="addSp modSp">
        <pc:chgData name="Lucky Reddy" userId="ef3f0dcc33b06e9d" providerId="LiveId" clId="{13ED6335-F75A-4CE8-B44E-5F1F53466513}" dt="2026-08-13T05:16:48.931" v="61" actId="1076"/>
        <pc:sldMkLst>
          <pc:docMk/>
          <pc:sldMk cId="1528360321" sldId="269"/>
        </pc:sldMkLst>
        <pc:picChg chg="add mod">
          <ac:chgData name="Lucky Reddy" userId="ef3f0dcc33b06e9d" providerId="LiveId" clId="{13ED6335-F75A-4CE8-B44E-5F1F53466513}" dt="2026-08-13T05:16:48.931" v="61" actId="1076"/>
          <ac:picMkLst>
            <pc:docMk/>
            <pc:sldMk cId="1528360321" sldId="269"/>
            <ac:picMk id="4" creationId="{096C54A6-926D-10D1-4350-36E4A5E2FE15}"/>
          </ac:picMkLst>
        </pc:picChg>
      </pc:sldChg>
      <pc:sldChg chg="addSp modSp">
        <pc:chgData name="Lucky Reddy" userId="ef3f0dcc33b06e9d" providerId="LiveId" clId="{13ED6335-F75A-4CE8-B44E-5F1F53466513}" dt="2026-08-13T05:16:54.818" v="63" actId="1076"/>
        <pc:sldMkLst>
          <pc:docMk/>
          <pc:sldMk cId="1073358081" sldId="270"/>
        </pc:sldMkLst>
        <pc:picChg chg="add mod">
          <ac:chgData name="Lucky Reddy" userId="ef3f0dcc33b06e9d" providerId="LiveId" clId="{13ED6335-F75A-4CE8-B44E-5F1F53466513}" dt="2026-08-13T05:16:54.818" v="63" actId="1076"/>
          <ac:picMkLst>
            <pc:docMk/>
            <pc:sldMk cId="1073358081" sldId="270"/>
            <ac:picMk id="3" creationId="{096C54A6-926D-10D1-4350-36E4A5E2FE1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6650" b="0" i="0">
                <a:solidFill>
                  <a:srgbClr val="20575B"/>
                </a:solidFill>
                <a:latin typeface="Calibri"/>
                <a:cs typeface="Calibri"/>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200" b="1" i="0">
                <a:solidFill>
                  <a:srgbClr val="4F4F4F"/>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50" b="0" i="0">
                <a:solidFill>
                  <a:srgbClr val="20575B"/>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1" i="0">
                <a:solidFill>
                  <a:srgbClr val="4F4F4F"/>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50" b="0" i="0">
                <a:solidFill>
                  <a:srgbClr val="20575B"/>
                </a:solidFill>
                <a:latin typeface="Calibri"/>
                <a:cs typeface="Calibri"/>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50" b="0" i="0">
                <a:solidFill>
                  <a:srgbClr val="20575B"/>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B9D9D5"/>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5880988" y="1636712"/>
            <a:ext cx="4770458" cy="7223234"/>
          </a:xfrm>
          <a:prstGeom prst="rect">
            <a:avLst/>
          </a:prstGeom>
        </p:spPr>
      </p:pic>
      <p:pic>
        <p:nvPicPr>
          <p:cNvPr id="18" name="bg object 18"/>
          <p:cNvPicPr/>
          <p:nvPr/>
        </p:nvPicPr>
        <p:blipFill>
          <a:blip r:embed="rId3" cstate="print"/>
          <a:stretch>
            <a:fillRect/>
          </a:stretch>
        </p:blipFill>
        <p:spPr>
          <a:xfrm>
            <a:off x="12488841" y="1636712"/>
            <a:ext cx="4770457" cy="7223234"/>
          </a:xfrm>
          <a:prstGeom prst="rect">
            <a:avLst/>
          </a:prstGeom>
        </p:spPr>
      </p:pic>
      <p:pic>
        <p:nvPicPr>
          <p:cNvPr id="19" name="bg object 19"/>
          <p:cNvPicPr/>
          <p:nvPr/>
        </p:nvPicPr>
        <p:blipFill>
          <a:blip r:embed="rId4" cstate="print"/>
          <a:stretch>
            <a:fillRect/>
          </a:stretch>
        </p:blipFill>
        <p:spPr>
          <a:xfrm>
            <a:off x="9102545" y="1028700"/>
            <a:ext cx="4770458" cy="8229599"/>
          </a:xfrm>
          <a:prstGeom prst="rect">
            <a:avLst/>
          </a:prstGeom>
        </p:spPr>
      </p:pic>
      <p:sp>
        <p:nvSpPr>
          <p:cNvPr id="20" name="bg object 20"/>
          <p:cNvSpPr/>
          <p:nvPr/>
        </p:nvSpPr>
        <p:spPr>
          <a:xfrm>
            <a:off x="0" y="365162"/>
            <a:ext cx="2520315" cy="1867535"/>
          </a:xfrm>
          <a:custGeom>
            <a:avLst/>
            <a:gdLst/>
            <a:ahLst/>
            <a:cxnLst/>
            <a:rect l="l" t="t" r="r" b="b"/>
            <a:pathLst>
              <a:path w="2520315" h="1867535">
                <a:moveTo>
                  <a:pt x="1634862" y="1867332"/>
                </a:moveTo>
                <a:lnTo>
                  <a:pt x="0" y="1867291"/>
                </a:lnTo>
                <a:lnTo>
                  <a:pt x="0" y="40"/>
                </a:lnTo>
                <a:lnTo>
                  <a:pt x="1634862" y="0"/>
                </a:lnTo>
                <a:lnTo>
                  <a:pt x="1728758" y="9595"/>
                </a:lnTo>
                <a:lnTo>
                  <a:pt x="1819746" y="28327"/>
                </a:lnTo>
                <a:lnTo>
                  <a:pt x="1907347" y="55721"/>
                </a:lnTo>
                <a:lnTo>
                  <a:pt x="1991082" y="91298"/>
                </a:lnTo>
                <a:lnTo>
                  <a:pt x="2070471" y="134581"/>
                </a:lnTo>
                <a:lnTo>
                  <a:pt x="2145037" y="185094"/>
                </a:lnTo>
                <a:lnTo>
                  <a:pt x="2214299" y="242358"/>
                </a:lnTo>
                <a:lnTo>
                  <a:pt x="2277779" y="305898"/>
                </a:lnTo>
                <a:lnTo>
                  <a:pt x="2334999" y="375235"/>
                </a:lnTo>
                <a:lnTo>
                  <a:pt x="2385478" y="449893"/>
                </a:lnTo>
                <a:lnTo>
                  <a:pt x="2428738" y="529395"/>
                </a:lnTo>
                <a:lnTo>
                  <a:pt x="2464300" y="613263"/>
                </a:lnTo>
                <a:lnTo>
                  <a:pt x="2491685" y="701020"/>
                </a:lnTo>
                <a:lnTo>
                  <a:pt x="2510414" y="792189"/>
                </a:lnTo>
                <a:lnTo>
                  <a:pt x="2520008" y="886293"/>
                </a:lnTo>
                <a:lnTo>
                  <a:pt x="2520008" y="982186"/>
                </a:lnTo>
                <a:lnTo>
                  <a:pt x="2510414" y="1076082"/>
                </a:lnTo>
                <a:lnTo>
                  <a:pt x="2491685" y="1167070"/>
                </a:lnTo>
                <a:lnTo>
                  <a:pt x="2464300" y="1254671"/>
                </a:lnTo>
                <a:lnTo>
                  <a:pt x="2428738" y="1338405"/>
                </a:lnTo>
                <a:lnTo>
                  <a:pt x="2385478" y="1417795"/>
                </a:lnTo>
                <a:lnTo>
                  <a:pt x="2334999" y="1492360"/>
                </a:lnTo>
                <a:lnTo>
                  <a:pt x="2277779" y="1561623"/>
                </a:lnTo>
                <a:lnTo>
                  <a:pt x="2214299" y="1625103"/>
                </a:lnTo>
                <a:lnTo>
                  <a:pt x="2145037" y="1682322"/>
                </a:lnTo>
                <a:lnTo>
                  <a:pt x="2070471" y="1732801"/>
                </a:lnTo>
                <a:lnTo>
                  <a:pt x="1991082" y="1776062"/>
                </a:lnTo>
                <a:lnTo>
                  <a:pt x="1907347" y="1811624"/>
                </a:lnTo>
                <a:lnTo>
                  <a:pt x="1819746" y="1839009"/>
                </a:lnTo>
                <a:lnTo>
                  <a:pt x="1728758" y="1857738"/>
                </a:lnTo>
                <a:lnTo>
                  <a:pt x="1634862" y="1867332"/>
                </a:lnTo>
                <a:close/>
              </a:path>
            </a:pathLst>
          </a:custGeom>
          <a:solidFill>
            <a:srgbClr val="20575B"/>
          </a:solidFill>
        </p:spPr>
        <p:txBody>
          <a:bodyPr wrap="square" lIns="0" tIns="0" rIns="0" bIns="0" rtlCol="0"/>
          <a:lstStyle/>
          <a:p>
            <a:endParaRPr/>
          </a:p>
        </p:txBody>
      </p:sp>
      <p:sp>
        <p:nvSpPr>
          <p:cNvPr id="21" name="bg object 21"/>
          <p:cNvSpPr/>
          <p:nvPr/>
        </p:nvSpPr>
        <p:spPr>
          <a:xfrm>
            <a:off x="0" y="2257703"/>
            <a:ext cx="1389380" cy="1871345"/>
          </a:xfrm>
          <a:custGeom>
            <a:avLst/>
            <a:gdLst/>
            <a:ahLst/>
            <a:cxnLst/>
            <a:rect l="l" t="t" r="r" b="b"/>
            <a:pathLst>
              <a:path w="1389380" h="1871345">
                <a:moveTo>
                  <a:pt x="503654" y="1869812"/>
                </a:moveTo>
                <a:lnTo>
                  <a:pt x="0" y="1871038"/>
                </a:lnTo>
                <a:lnTo>
                  <a:pt x="0" y="0"/>
                </a:lnTo>
                <a:lnTo>
                  <a:pt x="503654" y="1225"/>
                </a:lnTo>
                <a:lnTo>
                  <a:pt x="597550" y="10846"/>
                </a:lnTo>
                <a:lnTo>
                  <a:pt x="688538" y="29627"/>
                </a:lnTo>
                <a:lnTo>
                  <a:pt x="776139" y="57084"/>
                </a:lnTo>
                <a:lnTo>
                  <a:pt x="859874" y="92735"/>
                </a:lnTo>
                <a:lnTo>
                  <a:pt x="939263" y="136097"/>
                </a:lnTo>
                <a:lnTo>
                  <a:pt x="1013829" y="186686"/>
                </a:lnTo>
                <a:lnTo>
                  <a:pt x="1083091" y="244022"/>
                </a:lnTo>
                <a:lnTo>
                  <a:pt x="1146571" y="307621"/>
                </a:lnTo>
                <a:lnTo>
                  <a:pt x="1203791" y="376999"/>
                </a:lnTo>
                <a:lnTo>
                  <a:pt x="1254270" y="451676"/>
                </a:lnTo>
                <a:lnTo>
                  <a:pt x="1297530" y="531167"/>
                </a:lnTo>
                <a:lnTo>
                  <a:pt x="1333092" y="614990"/>
                </a:lnTo>
                <a:lnTo>
                  <a:pt x="1360477" y="702663"/>
                </a:lnTo>
                <a:lnTo>
                  <a:pt x="1379206" y="793702"/>
                </a:lnTo>
                <a:lnTo>
                  <a:pt x="1388800" y="887626"/>
                </a:lnTo>
                <a:lnTo>
                  <a:pt x="1388800" y="983411"/>
                </a:lnTo>
                <a:lnTo>
                  <a:pt x="1379206" y="1077335"/>
                </a:lnTo>
                <a:lnTo>
                  <a:pt x="1360477" y="1168374"/>
                </a:lnTo>
                <a:lnTo>
                  <a:pt x="1333092" y="1256047"/>
                </a:lnTo>
                <a:lnTo>
                  <a:pt x="1297530" y="1339871"/>
                </a:lnTo>
                <a:lnTo>
                  <a:pt x="1254270" y="1419362"/>
                </a:lnTo>
                <a:lnTo>
                  <a:pt x="1203791" y="1494038"/>
                </a:lnTo>
                <a:lnTo>
                  <a:pt x="1146571" y="1563417"/>
                </a:lnTo>
                <a:lnTo>
                  <a:pt x="1083091" y="1627015"/>
                </a:lnTo>
                <a:lnTo>
                  <a:pt x="1013829" y="1684351"/>
                </a:lnTo>
                <a:lnTo>
                  <a:pt x="939263" y="1734941"/>
                </a:lnTo>
                <a:lnTo>
                  <a:pt x="859874" y="1778302"/>
                </a:lnTo>
                <a:lnTo>
                  <a:pt x="776139" y="1813953"/>
                </a:lnTo>
                <a:lnTo>
                  <a:pt x="688538" y="1841410"/>
                </a:lnTo>
                <a:lnTo>
                  <a:pt x="597550" y="1860191"/>
                </a:lnTo>
                <a:lnTo>
                  <a:pt x="503654" y="1869812"/>
                </a:lnTo>
                <a:close/>
              </a:path>
            </a:pathLst>
          </a:custGeom>
          <a:solidFill>
            <a:srgbClr val="33959D"/>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B9D9D5"/>
          </a:solidFill>
        </p:spPr>
        <p:txBody>
          <a:bodyPr wrap="square" lIns="0" tIns="0" rIns="0" bIns="0" rtlCol="0"/>
          <a:lstStyle/>
          <a:p>
            <a:endParaRPr/>
          </a:p>
        </p:txBody>
      </p:sp>
      <p:sp>
        <p:nvSpPr>
          <p:cNvPr id="2" name="Holder 2"/>
          <p:cNvSpPr>
            <a:spLocks noGrp="1"/>
          </p:cNvSpPr>
          <p:nvPr>
            <p:ph type="title"/>
          </p:nvPr>
        </p:nvSpPr>
        <p:spPr>
          <a:xfrm>
            <a:off x="5678186" y="652459"/>
            <a:ext cx="9148936" cy="1915923"/>
          </a:xfrm>
          <a:prstGeom prst="rect">
            <a:avLst/>
          </a:prstGeom>
        </p:spPr>
        <p:txBody>
          <a:bodyPr wrap="square" lIns="0" tIns="0" rIns="0" bIns="0">
            <a:spAutoFit/>
          </a:bodyPr>
          <a:lstStyle>
            <a:lvl1pPr>
              <a:defRPr sz="6650" b="0" i="0">
                <a:solidFill>
                  <a:srgbClr val="20575B"/>
                </a:solidFill>
                <a:latin typeface="Calibri"/>
                <a:cs typeface="Calibri"/>
              </a:defRPr>
            </a:lvl1pPr>
          </a:lstStyle>
          <a:p>
            <a:endParaRPr/>
          </a:p>
        </p:txBody>
      </p:sp>
      <p:sp>
        <p:nvSpPr>
          <p:cNvPr id="3" name="Holder 3"/>
          <p:cNvSpPr>
            <a:spLocks noGrp="1"/>
          </p:cNvSpPr>
          <p:nvPr>
            <p:ph type="body" idx="1"/>
          </p:nvPr>
        </p:nvSpPr>
        <p:spPr>
          <a:xfrm>
            <a:off x="1016000" y="4671773"/>
            <a:ext cx="8659495" cy="3686809"/>
          </a:xfrm>
          <a:prstGeom prst="rect">
            <a:avLst/>
          </a:prstGeom>
        </p:spPr>
        <p:txBody>
          <a:bodyPr wrap="square" lIns="0" tIns="0" rIns="0" bIns="0">
            <a:spAutoFit/>
          </a:bodyPr>
          <a:lstStyle>
            <a:lvl1pPr>
              <a:defRPr sz="3200" b="1" i="0">
                <a:solidFill>
                  <a:srgbClr val="4F4F4F"/>
                </a:solidFill>
                <a:latin typeface="Arial"/>
                <a:cs typeface="Aria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10/30/2026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181101"/>
            <a:ext cx="15011400" cy="1036117"/>
          </a:xfrm>
          <a:prstGeom prst="rect">
            <a:avLst/>
          </a:prstGeom>
        </p:spPr>
        <p:txBody>
          <a:bodyPr vert="horz" wrap="square" lIns="0" tIns="685800" rIns="0" bIns="0" rtlCol="0">
            <a:spAutoFit/>
          </a:bodyPr>
          <a:lstStyle/>
          <a:p>
            <a:pPr marL="12700" marR="5080" indent="1033780">
              <a:lnSpc>
                <a:spcPct val="77400"/>
              </a:lnSpc>
              <a:spcBef>
                <a:spcPts val="5400"/>
              </a:spcBef>
            </a:pPr>
            <a:r>
              <a:rPr sz="2800" b="1" dirty="0"/>
              <a:t>EXPLAINABLE PREDICTIVE ANALYTICS FOR EMPLOYEE ATTRITION RISK ASSESSMENT</a:t>
            </a:r>
          </a:p>
        </p:txBody>
      </p:sp>
      <p:sp>
        <p:nvSpPr>
          <p:cNvPr id="9" name="TextBox 8">
            <a:extLst>
              <a:ext uri="{FF2B5EF4-FFF2-40B4-BE49-F238E27FC236}">
                <a16:creationId xmlns:a16="http://schemas.microsoft.com/office/drawing/2014/main" xmlns="" id="{B7379CE9-9F1D-B5F7-DAE3-A52A7130AB33}"/>
              </a:ext>
            </a:extLst>
          </p:cNvPr>
          <p:cNvSpPr txBox="1"/>
          <p:nvPr/>
        </p:nvSpPr>
        <p:spPr>
          <a:xfrm>
            <a:off x="609600" y="3771900"/>
            <a:ext cx="9372600" cy="1200329"/>
          </a:xfrm>
          <a:prstGeom prst="rect">
            <a:avLst/>
          </a:prstGeom>
          <a:noFill/>
        </p:spPr>
        <p:txBody>
          <a:bodyPr wrap="square" rtlCol="0">
            <a:spAutoFit/>
          </a:bodyPr>
          <a:lstStyle/>
          <a:p>
            <a:r>
              <a:rPr sz="2400" b="1" dirty="0"/>
              <a:t>APPLIED MACHINE LEARNING</a:t>
            </a:r>
          </a:p>
          <a:p>
            <a:endParaRPr sz="2400" dirty="0"/>
          </a:p>
          <a:p>
            <a:r>
              <a:rPr sz="2400" b="1" dirty="0" smtClean="0"/>
              <a:t>COURSE </a:t>
            </a:r>
            <a:r>
              <a:rPr sz="2400" b="1" dirty="0"/>
              <a:t>CODE: 24ALT3101</a:t>
            </a:r>
          </a:p>
        </p:txBody>
      </p:sp>
      <p:sp>
        <p:nvSpPr>
          <p:cNvPr id="10" name="TextBox 9">
            <a:extLst>
              <a:ext uri="{FF2B5EF4-FFF2-40B4-BE49-F238E27FC236}">
                <a16:creationId xmlns:a16="http://schemas.microsoft.com/office/drawing/2014/main" xmlns="" id="{94AA2B39-7001-1A3B-F364-C30E9F4F05D0}"/>
              </a:ext>
            </a:extLst>
          </p:cNvPr>
          <p:cNvSpPr txBox="1"/>
          <p:nvPr/>
        </p:nvSpPr>
        <p:spPr>
          <a:xfrm>
            <a:off x="-838200" y="5676900"/>
            <a:ext cx="10252770" cy="923330"/>
          </a:xfrm>
          <a:prstGeom prst="rect">
            <a:avLst/>
          </a:prstGeom>
          <a:noFill/>
        </p:spPr>
        <p:txBody>
          <a:bodyPr wrap="square" rtlCol="0">
            <a:spAutoFit/>
          </a:bodyPr>
          <a:lstStyle/>
          <a:p>
            <a:r>
              <a:rPr lang="en-IN" sz="1800" b="1" dirty="0"/>
              <a:t> </a:t>
            </a:r>
            <a:endParaRPr lang="en-IN" sz="3600" dirty="0"/>
          </a:p>
          <a:p>
            <a:r>
              <a:rPr lang="en-IN" sz="3600" dirty="0"/>
              <a:t>             </a:t>
            </a:r>
            <a:r>
              <a:rPr lang="en-IN" sz="3600" b="1" dirty="0" smtClean="0">
                <a:solidFill>
                  <a:schemeClr val="accent5">
                    <a:lumMod val="50000"/>
                  </a:schemeClr>
                </a:solidFill>
                <a:latin typeface="+mn-lt"/>
              </a:rPr>
              <a:t>GUIDE</a:t>
            </a:r>
            <a:r>
              <a:rPr lang="en-IN" sz="3600" dirty="0" smtClean="0">
                <a:solidFill>
                  <a:schemeClr val="accent5">
                    <a:lumMod val="50000"/>
                  </a:schemeClr>
                </a:solidFill>
              </a:rPr>
              <a:t>: </a:t>
            </a:r>
            <a:r>
              <a:rPr lang="en-IN" sz="3600" b="1" dirty="0" err="1" smtClean="0">
                <a:solidFill>
                  <a:schemeClr val="accent5">
                    <a:lumMod val="50000"/>
                  </a:schemeClr>
                </a:solidFill>
                <a:latin typeface="+mn-lt"/>
              </a:rPr>
              <a:t>Dr.K</a:t>
            </a:r>
            <a:r>
              <a:rPr lang="en-IN" sz="3600" b="1" dirty="0" smtClean="0">
                <a:solidFill>
                  <a:schemeClr val="accent5">
                    <a:lumMod val="50000"/>
                  </a:schemeClr>
                </a:solidFill>
                <a:latin typeface="+mn-lt"/>
              </a:rPr>
              <a:t>. </a:t>
            </a:r>
            <a:r>
              <a:rPr lang="en-IN" sz="3600" b="1" dirty="0">
                <a:solidFill>
                  <a:schemeClr val="accent5">
                    <a:lumMod val="50000"/>
                  </a:schemeClr>
                </a:solidFill>
                <a:latin typeface="+mn-lt"/>
              </a:rPr>
              <a:t>SWANTHANA </a:t>
            </a:r>
            <a:r>
              <a:rPr lang="en-IN" sz="3600" b="1" dirty="0" smtClean="0">
                <a:solidFill>
                  <a:schemeClr val="accent5">
                    <a:lumMod val="50000"/>
                  </a:schemeClr>
                </a:solidFill>
                <a:latin typeface="+mn-lt"/>
              </a:rPr>
              <a:t> </a:t>
            </a:r>
            <a:endParaRPr lang="en-IN" sz="3600" b="1" dirty="0">
              <a:solidFill>
                <a:schemeClr val="accent5">
                  <a:lumMod val="50000"/>
                </a:schemeClr>
              </a:solidFill>
              <a:latin typeface="+mn-lt"/>
            </a:endParaRPr>
          </a:p>
        </p:txBody>
      </p:sp>
      <p:sp>
        <p:nvSpPr>
          <p:cNvPr id="11" name="TextBox 10">
            <a:extLst>
              <a:ext uri="{FF2B5EF4-FFF2-40B4-BE49-F238E27FC236}">
                <a16:creationId xmlns:a16="http://schemas.microsoft.com/office/drawing/2014/main" xmlns="" id="{4CA0AA1B-4D47-BA18-4648-4FBFF487D603}"/>
              </a:ext>
            </a:extLst>
          </p:cNvPr>
          <p:cNvSpPr txBox="1"/>
          <p:nvPr/>
        </p:nvSpPr>
        <p:spPr>
          <a:xfrm>
            <a:off x="609600" y="6953744"/>
            <a:ext cx="6073857" cy="2585323"/>
          </a:xfrm>
          <a:prstGeom prst="rect">
            <a:avLst/>
          </a:prstGeom>
          <a:noFill/>
        </p:spPr>
        <p:txBody>
          <a:bodyPr wrap="square" rtlCol="0">
            <a:spAutoFit/>
          </a:bodyPr>
          <a:lstStyle/>
          <a:p>
            <a:r>
              <a:rPr lang="en-US" sz="1800" dirty="0">
                <a:latin typeface="Bookman Old Style" panose="02050604050505020204" pitchFamily="18" charset="0"/>
              </a:rPr>
              <a:t> </a:t>
            </a:r>
            <a:endParaRPr lang="en-US" sz="1800" dirty="0" smtClean="0">
              <a:latin typeface="Bookman Old Style" panose="02050604050505020204" pitchFamily="18" charset="0"/>
            </a:endParaRPr>
          </a:p>
          <a:p>
            <a:r>
              <a:rPr lang="en-US" sz="2400" b="1" dirty="0" smtClean="0">
                <a:solidFill>
                  <a:schemeClr val="accent5">
                    <a:lumMod val="50000"/>
                  </a:schemeClr>
                </a:solidFill>
                <a:latin typeface="+mn-lt"/>
              </a:rPr>
              <a:t>TEAM </a:t>
            </a:r>
            <a:r>
              <a:rPr lang="en-US" sz="2400" b="1" dirty="0" smtClean="0">
                <a:solidFill>
                  <a:schemeClr val="accent5">
                    <a:lumMod val="50000"/>
                  </a:schemeClr>
                </a:solidFill>
                <a:latin typeface="+mn-lt"/>
              </a:rPr>
              <a:t>NUMBERS</a:t>
            </a:r>
            <a:endParaRPr lang="en-US" sz="2400" b="1" dirty="0">
              <a:solidFill>
                <a:schemeClr val="accent5">
                  <a:lumMod val="50000"/>
                </a:schemeClr>
              </a:solidFill>
              <a:latin typeface="+mn-lt"/>
            </a:endParaRPr>
          </a:p>
          <a:p>
            <a:endParaRPr lang="en-US" sz="2400" b="1" dirty="0">
              <a:solidFill>
                <a:schemeClr val="accent5">
                  <a:lumMod val="50000"/>
                </a:schemeClr>
              </a:solidFill>
              <a:latin typeface="+mn-lt"/>
            </a:endParaRPr>
          </a:p>
          <a:p>
            <a:r>
              <a:rPr lang="en-US" sz="2400" b="1" dirty="0" smtClean="0">
                <a:solidFill>
                  <a:schemeClr val="accent5">
                    <a:lumMod val="50000"/>
                  </a:schemeClr>
                </a:solidFill>
                <a:latin typeface="+mn-lt"/>
              </a:rPr>
              <a:t>Manikanta-2420030082</a:t>
            </a:r>
            <a:endParaRPr lang="en-US" sz="2400" b="1" dirty="0">
              <a:solidFill>
                <a:schemeClr val="accent5">
                  <a:lumMod val="50000"/>
                </a:schemeClr>
              </a:solidFill>
              <a:latin typeface="+mn-lt"/>
            </a:endParaRPr>
          </a:p>
          <a:p>
            <a:r>
              <a:rPr lang="en-US" sz="2400" b="1" dirty="0" smtClean="0">
                <a:solidFill>
                  <a:schemeClr val="accent5">
                    <a:lumMod val="50000"/>
                  </a:schemeClr>
                </a:solidFill>
                <a:latin typeface="+mn-lt"/>
              </a:rPr>
              <a:t>Srujan-2420030083</a:t>
            </a:r>
            <a:endParaRPr lang="en-US" sz="2400" b="1" dirty="0">
              <a:solidFill>
                <a:schemeClr val="accent5">
                  <a:lumMod val="50000"/>
                </a:schemeClr>
              </a:solidFill>
              <a:latin typeface="+mn-lt"/>
            </a:endParaRPr>
          </a:p>
          <a:p>
            <a:r>
              <a:rPr lang="en-US" sz="2400" b="1" dirty="0" smtClean="0">
                <a:solidFill>
                  <a:schemeClr val="accent5">
                    <a:lumMod val="50000"/>
                  </a:schemeClr>
                </a:solidFill>
                <a:latin typeface="+mn-lt"/>
              </a:rPr>
              <a:t>Rahul-2420040098</a:t>
            </a:r>
            <a:endParaRPr lang="en-IN" sz="2400" b="1" dirty="0">
              <a:solidFill>
                <a:schemeClr val="accent5">
                  <a:lumMod val="50000"/>
                </a:schemeClr>
              </a:solidFill>
              <a:latin typeface="+mn-lt"/>
            </a:endParaRPr>
          </a:p>
          <a:p>
            <a:r>
              <a:rPr lang="en-IN" sz="2400" b="1" dirty="0" smtClean="0">
                <a:solidFill>
                  <a:schemeClr val="accent5">
                    <a:lumMod val="50000"/>
                  </a:schemeClr>
                </a:solidFill>
                <a:latin typeface="+mn-lt"/>
              </a:rPr>
              <a:t>Vinay-2420090054</a:t>
            </a:r>
            <a:endParaRPr lang="en-IN" sz="2400" b="1" dirty="0">
              <a:solidFill>
                <a:schemeClr val="accent5">
                  <a:lumMod val="50000"/>
                </a:schemeClr>
              </a:solidFill>
              <a:latin typeface="+mn-lt"/>
            </a:endParaRPr>
          </a:p>
        </p:txBody>
      </p:sp>
      <p:pic>
        <p:nvPicPr>
          <p:cNvPr id="6" name="Picture 5">
            <a:extLst>
              <a:ext uri="{FF2B5EF4-FFF2-40B4-BE49-F238E27FC236}">
                <a16:creationId xmlns:a16="http://schemas.microsoft.com/office/drawing/2014/main" xmlns="" id="{3E64CDA6-ABC9-5F29-4B4D-EFBB6C48E712}"/>
              </a:ext>
            </a:extLst>
          </p:cNvPr>
          <p:cNvPicPr>
            <a:picLocks noChangeAspect="1"/>
          </p:cNvPicPr>
          <p:nvPr/>
        </p:nvPicPr>
        <p:blipFill>
          <a:blip r:embed="rId2"/>
          <a:stretch>
            <a:fillRect/>
          </a:stretch>
        </p:blipFill>
        <p:spPr>
          <a:xfrm>
            <a:off x="9414570" y="2781300"/>
            <a:ext cx="8458200" cy="7162800"/>
          </a:xfrm>
          <a:prstGeom prst="rect">
            <a:avLst/>
          </a:prstGeom>
        </p:spPr>
      </p:pic>
      <p:pic>
        <p:nvPicPr>
          <p:cNvPr id="4" name="Picture 3">
            <a:extLst>
              <a:ext uri="{FF2B5EF4-FFF2-40B4-BE49-F238E27FC236}">
                <a16:creationId xmlns:a16="http://schemas.microsoft.com/office/drawing/2014/main" xmlns="" id="{93167596-D433-A9A6-86D8-95713A1E1148}"/>
              </a:ext>
            </a:extLst>
          </p:cNvPr>
          <p:cNvPicPr>
            <a:picLocks noChangeAspect="1"/>
          </p:cNvPicPr>
          <p:nvPr/>
        </p:nvPicPr>
        <p:blipFill>
          <a:blip r:embed="rId3"/>
          <a:stretch>
            <a:fillRect/>
          </a:stretch>
        </p:blipFill>
        <p:spPr>
          <a:xfrm>
            <a:off x="35490" y="-600119"/>
            <a:ext cx="3188484" cy="2371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4020800" y="8678770"/>
            <a:ext cx="1582420" cy="1582420"/>
          </a:xfrm>
          <a:custGeom>
            <a:avLst/>
            <a:gdLst/>
            <a:ahLst/>
            <a:cxnLst/>
            <a:rect l="l" t="t" r="r" b="b"/>
            <a:pathLst>
              <a:path w="1582420" h="1582420">
                <a:moveTo>
                  <a:pt x="0" y="791101"/>
                </a:moveTo>
                <a:lnTo>
                  <a:pt x="1833" y="738006"/>
                </a:lnTo>
                <a:lnTo>
                  <a:pt x="7000" y="685821"/>
                </a:lnTo>
                <a:lnTo>
                  <a:pt x="15501" y="634545"/>
                </a:lnTo>
                <a:lnTo>
                  <a:pt x="27335" y="584180"/>
                </a:lnTo>
                <a:lnTo>
                  <a:pt x="42503" y="534724"/>
                </a:lnTo>
                <a:lnTo>
                  <a:pt x="61005" y="486179"/>
                </a:lnTo>
                <a:lnTo>
                  <a:pt x="82840" y="438543"/>
                </a:lnTo>
                <a:lnTo>
                  <a:pt x="108008" y="391818"/>
                </a:lnTo>
                <a:lnTo>
                  <a:pt x="231702" y="231707"/>
                </a:lnTo>
                <a:lnTo>
                  <a:pt x="269547" y="196357"/>
                </a:lnTo>
                <a:lnTo>
                  <a:pt x="309046" y="163841"/>
                </a:lnTo>
                <a:lnTo>
                  <a:pt x="350200" y="134158"/>
                </a:lnTo>
                <a:lnTo>
                  <a:pt x="393009" y="107310"/>
                </a:lnTo>
                <a:lnTo>
                  <a:pt x="437474" y="83296"/>
                </a:lnTo>
                <a:lnTo>
                  <a:pt x="483593" y="62116"/>
                </a:lnTo>
                <a:lnTo>
                  <a:pt x="531367" y="43770"/>
                </a:lnTo>
                <a:lnTo>
                  <a:pt x="580796" y="28258"/>
                </a:lnTo>
                <a:lnTo>
                  <a:pt x="791102" y="0"/>
                </a:lnTo>
                <a:lnTo>
                  <a:pt x="844951" y="180"/>
                </a:lnTo>
                <a:lnTo>
                  <a:pt x="897580" y="4831"/>
                </a:lnTo>
                <a:lnTo>
                  <a:pt x="948989" y="13951"/>
                </a:lnTo>
                <a:lnTo>
                  <a:pt x="999179" y="27542"/>
                </a:lnTo>
                <a:lnTo>
                  <a:pt x="1048148" y="45603"/>
                </a:lnTo>
                <a:lnTo>
                  <a:pt x="1095898" y="68133"/>
                </a:lnTo>
                <a:lnTo>
                  <a:pt x="1143835" y="85971"/>
                </a:lnTo>
                <a:lnTo>
                  <a:pt x="1189571" y="107578"/>
                </a:lnTo>
                <a:lnTo>
                  <a:pt x="1233105" y="132955"/>
                </a:lnTo>
                <a:lnTo>
                  <a:pt x="1274437" y="162103"/>
                </a:lnTo>
                <a:lnTo>
                  <a:pt x="1313567" y="195020"/>
                </a:lnTo>
                <a:lnTo>
                  <a:pt x="1350496" y="231707"/>
                </a:lnTo>
                <a:lnTo>
                  <a:pt x="1387185" y="268636"/>
                </a:lnTo>
                <a:lnTo>
                  <a:pt x="1420103" y="307767"/>
                </a:lnTo>
                <a:lnTo>
                  <a:pt x="1449251" y="349099"/>
                </a:lnTo>
                <a:lnTo>
                  <a:pt x="1474628" y="392633"/>
                </a:lnTo>
                <a:lnTo>
                  <a:pt x="1496234" y="438368"/>
                </a:lnTo>
                <a:lnTo>
                  <a:pt x="1514070" y="486306"/>
                </a:lnTo>
                <a:lnTo>
                  <a:pt x="1536601" y="534053"/>
                </a:lnTo>
                <a:lnTo>
                  <a:pt x="1554662" y="583022"/>
                </a:lnTo>
                <a:lnTo>
                  <a:pt x="1568252" y="633211"/>
                </a:lnTo>
                <a:lnTo>
                  <a:pt x="1577373" y="684620"/>
                </a:lnTo>
                <a:lnTo>
                  <a:pt x="1582024" y="737250"/>
                </a:lnTo>
                <a:lnTo>
                  <a:pt x="1582205" y="791101"/>
                </a:lnTo>
                <a:lnTo>
                  <a:pt x="1580371" y="844196"/>
                </a:lnTo>
                <a:lnTo>
                  <a:pt x="1575204" y="896382"/>
                </a:lnTo>
                <a:lnTo>
                  <a:pt x="1566704" y="947657"/>
                </a:lnTo>
                <a:lnTo>
                  <a:pt x="1554869" y="998023"/>
                </a:lnTo>
                <a:lnTo>
                  <a:pt x="1539701" y="1047478"/>
                </a:lnTo>
                <a:lnTo>
                  <a:pt x="1521200" y="1096024"/>
                </a:lnTo>
                <a:lnTo>
                  <a:pt x="1499365" y="1143660"/>
                </a:lnTo>
                <a:lnTo>
                  <a:pt x="1474196" y="1190386"/>
                </a:lnTo>
                <a:lnTo>
                  <a:pt x="1350496" y="1350493"/>
                </a:lnTo>
                <a:lnTo>
                  <a:pt x="1312653" y="1385843"/>
                </a:lnTo>
                <a:lnTo>
                  <a:pt x="1273155" y="1418359"/>
                </a:lnTo>
                <a:lnTo>
                  <a:pt x="1232001" y="1448042"/>
                </a:lnTo>
                <a:lnTo>
                  <a:pt x="1189193" y="1474890"/>
                </a:lnTo>
                <a:lnTo>
                  <a:pt x="1144729" y="1498904"/>
                </a:lnTo>
                <a:lnTo>
                  <a:pt x="1098611" y="1520083"/>
                </a:lnTo>
                <a:lnTo>
                  <a:pt x="1050837" y="1538429"/>
                </a:lnTo>
                <a:lnTo>
                  <a:pt x="1001409" y="1553940"/>
                </a:lnTo>
                <a:lnTo>
                  <a:pt x="791102" y="1582200"/>
                </a:lnTo>
                <a:lnTo>
                  <a:pt x="737253" y="1582021"/>
                </a:lnTo>
                <a:lnTo>
                  <a:pt x="684624" y="1577371"/>
                </a:lnTo>
                <a:lnTo>
                  <a:pt x="633214" y="1568251"/>
                </a:lnTo>
                <a:lnTo>
                  <a:pt x="583025" y="1554661"/>
                </a:lnTo>
                <a:lnTo>
                  <a:pt x="534056" y="1536601"/>
                </a:lnTo>
                <a:lnTo>
                  <a:pt x="486307" y="1514070"/>
                </a:lnTo>
                <a:lnTo>
                  <a:pt x="438370" y="1496233"/>
                </a:lnTo>
                <a:lnTo>
                  <a:pt x="392634" y="1474626"/>
                </a:lnTo>
                <a:lnTo>
                  <a:pt x="349100" y="1449249"/>
                </a:lnTo>
                <a:lnTo>
                  <a:pt x="307768" y="1420101"/>
                </a:lnTo>
                <a:lnTo>
                  <a:pt x="268637" y="1387184"/>
                </a:lnTo>
                <a:lnTo>
                  <a:pt x="231708" y="1350496"/>
                </a:lnTo>
                <a:lnTo>
                  <a:pt x="195020" y="1313567"/>
                </a:lnTo>
                <a:lnTo>
                  <a:pt x="162102" y="1274436"/>
                </a:lnTo>
                <a:lnTo>
                  <a:pt x="132954" y="1233104"/>
                </a:lnTo>
                <a:lnTo>
                  <a:pt x="107577" y="1189570"/>
                </a:lnTo>
                <a:lnTo>
                  <a:pt x="85971" y="1143834"/>
                </a:lnTo>
                <a:lnTo>
                  <a:pt x="68135" y="1095897"/>
                </a:lnTo>
                <a:lnTo>
                  <a:pt x="45604" y="1048149"/>
                </a:lnTo>
                <a:lnTo>
                  <a:pt x="27543" y="999180"/>
                </a:lnTo>
                <a:lnTo>
                  <a:pt x="13952" y="948991"/>
                </a:lnTo>
                <a:lnTo>
                  <a:pt x="4831" y="897582"/>
                </a:lnTo>
                <a:lnTo>
                  <a:pt x="180" y="844952"/>
                </a:lnTo>
                <a:lnTo>
                  <a:pt x="0" y="791101"/>
                </a:lnTo>
                <a:close/>
              </a:path>
            </a:pathLst>
          </a:custGeom>
          <a:solidFill>
            <a:srgbClr val="33959D"/>
          </a:solidFill>
        </p:spPr>
        <p:txBody>
          <a:bodyPr wrap="square" lIns="0" tIns="0" rIns="0" bIns="0" rtlCol="0"/>
          <a:lstStyle/>
          <a:p>
            <a:endParaRPr/>
          </a:p>
        </p:txBody>
      </p:sp>
      <p:grpSp>
        <p:nvGrpSpPr>
          <p:cNvPr id="6" name="object 6"/>
          <p:cNvGrpSpPr/>
          <p:nvPr/>
        </p:nvGrpSpPr>
        <p:grpSpPr>
          <a:xfrm>
            <a:off x="15849600" y="9005795"/>
            <a:ext cx="928369" cy="928369"/>
            <a:chOff x="7893094" y="2029397"/>
            <a:chExt cx="928369" cy="928369"/>
          </a:xfrm>
        </p:grpSpPr>
        <p:sp>
          <p:nvSpPr>
            <p:cNvPr id="7" name="object 7"/>
            <p:cNvSpPr/>
            <p:nvPr/>
          </p:nvSpPr>
          <p:spPr>
            <a:xfrm>
              <a:off x="7893706" y="2030009"/>
              <a:ext cx="927100" cy="927100"/>
            </a:xfrm>
            <a:custGeom>
              <a:avLst/>
              <a:gdLst/>
              <a:ahLst/>
              <a:cxnLst/>
              <a:rect l="l" t="t" r="r" b="b"/>
              <a:pathLst>
                <a:path w="927100" h="927100">
                  <a:moveTo>
                    <a:pt x="0" y="463529"/>
                  </a:moveTo>
                  <a:lnTo>
                    <a:pt x="2232" y="418095"/>
                  </a:lnTo>
                  <a:lnTo>
                    <a:pt x="8906" y="373098"/>
                  </a:lnTo>
                  <a:lnTo>
                    <a:pt x="19959" y="328973"/>
                  </a:lnTo>
                  <a:lnTo>
                    <a:pt x="35284" y="286144"/>
                  </a:lnTo>
                  <a:lnTo>
                    <a:pt x="54733" y="245022"/>
                  </a:lnTo>
                  <a:lnTo>
                    <a:pt x="78119" y="206006"/>
                  </a:lnTo>
                  <a:lnTo>
                    <a:pt x="105216" y="169469"/>
                  </a:lnTo>
                  <a:lnTo>
                    <a:pt x="135764" y="135764"/>
                  </a:lnTo>
                  <a:lnTo>
                    <a:pt x="169469" y="105216"/>
                  </a:lnTo>
                  <a:lnTo>
                    <a:pt x="206006" y="78118"/>
                  </a:lnTo>
                  <a:lnTo>
                    <a:pt x="245023" y="54732"/>
                  </a:lnTo>
                  <a:lnTo>
                    <a:pt x="286144" y="35284"/>
                  </a:lnTo>
                  <a:lnTo>
                    <a:pt x="328973" y="19959"/>
                  </a:lnTo>
                  <a:lnTo>
                    <a:pt x="373099" y="8906"/>
                  </a:lnTo>
                  <a:lnTo>
                    <a:pt x="418095" y="2232"/>
                  </a:lnTo>
                  <a:lnTo>
                    <a:pt x="463529" y="0"/>
                  </a:lnTo>
                  <a:lnTo>
                    <a:pt x="474908" y="139"/>
                  </a:lnTo>
                  <a:lnTo>
                    <a:pt x="520273" y="3486"/>
                  </a:lnTo>
                  <a:lnTo>
                    <a:pt x="565092" y="11263"/>
                  </a:lnTo>
                  <a:lnTo>
                    <a:pt x="608933" y="23396"/>
                  </a:lnTo>
                  <a:lnTo>
                    <a:pt x="651373" y="39767"/>
                  </a:lnTo>
                  <a:lnTo>
                    <a:pt x="692005" y="60219"/>
                  </a:lnTo>
                  <a:lnTo>
                    <a:pt x="730436" y="84556"/>
                  </a:lnTo>
                  <a:lnTo>
                    <a:pt x="766296" y="112542"/>
                  </a:lnTo>
                  <a:lnTo>
                    <a:pt x="799241" y="143909"/>
                  </a:lnTo>
                  <a:lnTo>
                    <a:pt x="828952" y="178353"/>
                  </a:lnTo>
                  <a:lnTo>
                    <a:pt x="855145" y="215544"/>
                  </a:lnTo>
                  <a:lnTo>
                    <a:pt x="877566" y="255124"/>
                  </a:lnTo>
                  <a:lnTo>
                    <a:pt x="895999" y="296710"/>
                  </a:lnTo>
                  <a:lnTo>
                    <a:pt x="910268" y="339903"/>
                  </a:lnTo>
                  <a:lnTo>
                    <a:pt x="920234" y="384286"/>
                  </a:lnTo>
                  <a:lnTo>
                    <a:pt x="925802" y="429433"/>
                  </a:lnTo>
                  <a:lnTo>
                    <a:pt x="927058" y="463529"/>
                  </a:lnTo>
                  <a:lnTo>
                    <a:pt x="926918" y="474908"/>
                  </a:lnTo>
                  <a:lnTo>
                    <a:pt x="923572" y="520273"/>
                  </a:lnTo>
                  <a:lnTo>
                    <a:pt x="915794" y="565092"/>
                  </a:lnTo>
                  <a:lnTo>
                    <a:pt x="903662" y="608932"/>
                  </a:lnTo>
                  <a:lnTo>
                    <a:pt x="887290" y="651373"/>
                  </a:lnTo>
                  <a:lnTo>
                    <a:pt x="866838" y="692004"/>
                  </a:lnTo>
                  <a:lnTo>
                    <a:pt x="842501" y="730435"/>
                  </a:lnTo>
                  <a:lnTo>
                    <a:pt x="814515" y="766296"/>
                  </a:lnTo>
                  <a:lnTo>
                    <a:pt x="783148" y="799241"/>
                  </a:lnTo>
                  <a:lnTo>
                    <a:pt x="748704" y="828952"/>
                  </a:lnTo>
                  <a:lnTo>
                    <a:pt x="711513" y="855145"/>
                  </a:lnTo>
                  <a:lnTo>
                    <a:pt x="671934" y="877566"/>
                  </a:lnTo>
                  <a:lnTo>
                    <a:pt x="630347" y="895999"/>
                  </a:lnTo>
                  <a:lnTo>
                    <a:pt x="587155" y="910268"/>
                  </a:lnTo>
                  <a:lnTo>
                    <a:pt x="542771" y="920234"/>
                  </a:lnTo>
                  <a:lnTo>
                    <a:pt x="497625" y="925802"/>
                  </a:lnTo>
                  <a:lnTo>
                    <a:pt x="463529" y="927058"/>
                  </a:lnTo>
                  <a:lnTo>
                    <a:pt x="452150" y="926918"/>
                  </a:lnTo>
                  <a:lnTo>
                    <a:pt x="406784" y="923572"/>
                  </a:lnTo>
                  <a:lnTo>
                    <a:pt x="361965" y="915794"/>
                  </a:lnTo>
                  <a:lnTo>
                    <a:pt x="318125" y="903662"/>
                  </a:lnTo>
                  <a:lnTo>
                    <a:pt x="275684" y="887290"/>
                  </a:lnTo>
                  <a:lnTo>
                    <a:pt x="235053" y="866838"/>
                  </a:lnTo>
                  <a:lnTo>
                    <a:pt x="196622" y="842501"/>
                  </a:lnTo>
                  <a:lnTo>
                    <a:pt x="160761" y="814515"/>
                  </a:lnTo>
                  <a:lnTo>
                    <a:pt x="127817" y="783148"/>
                  </a:lnTo>
                  <a:lnTo>
                    <a:pt x="98105" y="748704"/>
                  </a:lnTo>
                  <a:lnTo>
                    <a:pt x="71913" y="711513"/>
                  </a:lnTo>
                  <a:lnTo>
                    <a:pt x="49491" y="671933"/>
                  </a:lnTo>
                  <a:lnTo>
                    <a:pt x="31058" y="630347"/>
                  </a:lnTo>
                  <a:lnTo>
                    <a:pt x="16789" y="587154"/>
                  </a:lnTo>
                  <a:lnTo>
                    <a:pt x="6823" y="542771"/>
                  </a:lnTo>
                  <a:lnTo>
                    <a:pt x="1255" y="497625"/>
                  </a:lnTo>
                  <a:lnTo>
                    <a:pt x="0" y="463529"/>
                  </a:lnTo>
                  <a:close/>
                </a:path>
              </a:pathLst>
            </a:custGeom>
            <a:solidFill>
              <a:srgbClr val="33858B"/>
            </a:solidFill>
          </p:spPr>
          <p:txBody>
            <a:bodyPr wrap="square" lIns="0" tIns="0" rIns="0" bIns="0" rtlCol="0"/>
            <a:lstStyle/>
            <a:p>
              <a:endParaRPr dirty="0"/>
            </a:p>
          </p:txBody>
        </p:sp>
        <p:sp>
          <p:nvSpPr>
            <p:cNvPr id="8" name="object 8"/>
            <p:cNvSpPr/>
            <p:nvPr/>
          </p:nvSpPr>
          <p:spPr>
            <a:xfrm>
              <a:off x="7893706" y="2030009"/>
              <a:ext cx="927100" cy="927100"/>
            </a:xfrm>
            <a:custGeom>
              <a:avLst/>
              <a:gdLst/>
              <a:ahLst/>
              <a:cxnLst/>
              <a:rect l="l" t="t" r="r" b="b"/>
              <a:pathLst>
                <a:path w="927100" h="927100">
                  <a:moveTo>
                    <a:pt x="463529" y="927058"/>
                  </a:moveTo>
                  <a:lnTo>
                    <a:pt x="418095" y="924826"/>
                  </a:lnTo>
                  <a:lnTo>
                    <a:pt x="373099" y="918151"/>
                  </a:lnTo>
                  <a:lnTo>
                    <a:pt x="328973" y="907098"/>
                  </a:lnTo>
                  <a:lnTo>
                    <a:pt x="286144" y="891774"/>
                  </a:lnTo>
                  <a:lnTo>
                    <a:pt x="245023" y="872325"/>
                  </a:lnTo>
                  <a:lnTo>
                    <a:pt x="206006" y="848939"/>
                  </a:lnTo>
                  <a:lnTo>
                    <a:pt x="169469" y="821841"/>
                  </a:lnTo>
                  <a:lnTo>
                    <a:pt x="135764" y="791293"/>
                  </a:lnTo>
                  <a:lnTo>
                    <a:pt x="105216" y="757588"/>
                  </a:lnTo>
                  <a:lnTo>
                    <a:pt x="78119" y="721051"/>
                  </a:lnTo>
                  <a:lnTo>
                    <a:pt x="54733" y="682035"/>
                  </a:lnTo>
                  <a:lnTo>
                    <a:pt x="35284" y="640913"/>
                  </a:lnTo>
                  <a:lnTo>
                    <a:pt x="19959" y="598084"/>
                  </a:lnTo>
                  <a:lnTo>
                    <a:pt x="8906" y="553959"/>
                  </a:lnTo>
                  <a:lnTo>
                    <a:pt x="2232" y="508962"/>
                  </a:lnTo>
                  <a:lnTo>
                    <a:pt x="0" y="463529"/>
                  </a:lnTo>
                  <a:lnTo>
                    <a:pt x="139" y="452150"/>
                  </a:lnTo>
                  <a:lnTo>
                    <a:pt x="3486" y="406784"/>
                  </a:lnTo>
                  <a:lnTo>
                    <a:pt x="11263" y="361965"/>
                  </a:lnTo>
                  <a:lnTo>
                    <a:pt x="23396" y="318125"/>
                  </a:lnTo>
                  <a:lnTo>
                    <a:pt x="39767" y="275684"/>
                  </a:lnTo>
                  <a:lnTo>
                    <a:pt x="60220" y="235053"/>
                  </a:lnTo>
                  <a:lnTo>
                    <a:pt x="84556" y="196622"/>
                  </a:lnTo>
                  <a:lnTo>
                    <a:pt x="112542" y="160761"/>
                  </a:lnTo>
                  <a:lnTo>
                    <a:pt x="143909" y="127816"/>
                  </a:lnTo>
                  <a:lnTo>
                    <a:pt x="178354" y="98105"/>
                  </a:lnTo>
                  <a:lnTo>
                    <a:pt x="215545" y="71912"/>
                  </a:lnTo>
                  <a:lnTo>
                    <a:pt x="255124" y="49491"/>
                  </a:lnTo>
                  <a:lnTo>
                    <a:pt x="296710" y="31058"/>
                  </a:lnTo>
                  <a:lnTo>
                    <a:pt x="339903" y="16789"/>
                  </a:lnTo>
                  <a:lnTo>
                    <a:pt x="384286" y="6823"/>
                  </a:lnTo>
                  <a:lnTo>
                    <a:pt x="429433" y="1255"/>
                  </a:lnTo>
                  <a:lnTo>
                    <a:pt x="463529" y="0"/>
                  </a:lnTo>
                  <a:lnTo>
                    <a:pt x="474908" y="139"/>
                  </a:lnTo>
                  <a:lnTo>
                    <a:pt x="520273" y="3486"/>
                  </a:lnTo>
                  <a:lnTo>
                    <a:pt x="565092" y="11263"/>
                  </a:lnTo>
                  <a:lnTo>
                    <a:pt x="608933" y="23396"/>
                  </a:lnTo>
                  <a:lnTo>
                    <a:pt x="651373" y="39767"/>
                  </a:lnTo>
                  <a:lnTo>
                    <a:pt x="692005" y="60219"/>
                  </a:lnTo>
                  <a:lnTo>
                    <a:pt x="730436" y="84556"/>
                  </a:lnTo>
                  <a:lnTo>
                    <a:pt x="766296" y="112542"/>
                  </a:lnTo>
                  <a:lnTo>
                    <a:pt x="799241" y="143909"/>
                  </a:lnTo>
                  <a:lnTo>
                    <a:pt x="828952" y="178353"/>
                  </a:lnTo>
                  <a:lnTo>
                    <a:pt x="855145" y="215544"/>
                  </a:lnTo>
                  <a:lnTo>
                    <a:pt x="877566" y="255124"/>
                  </a:lnTo>
                  <a:lnTo>
                    <a:pt x="895999" y="296710"/>
                  </a:lnTo>
                  <a:lnTo>
                    <a:pt x="910268" y="339903"/>
                  </a:lnTo>
                  <a:lnTo>
                    <a:pt x="920234" y="384286"/>
                  </a:lnTo>
                  <a:lnTo>
                    <a:pt x="925802" y="429433"/>
                  </a:lnTo>
                  <a:lnTo>
                    <a:pt x="927058" y="463529"/>
                  </a:lnTo>
                  <a:lnTo>
                    <a:pt x="926918" y="474908"/>
                  </a:lnTo>
                  <a:lnTo>
                    <a:pt x="923572" y="520273"/>
                  </a:lnTo>
                  <a:lnTo>
                    <a:pt x="915794" y="565092"/>
                  </a:lnTo>
                  <a:lnTo>
                    <a:pt x="903662" y="608932"/>
                  </a:lnTo>
                  <a:lnTo>
                    <a:pt x="887290" y="651373"/>
                  </a:lnTo>
                  <a:lnTo>
                    <a:pt x="866838" y="692004"/>
                  </a:lnTo>
                  <a:lnTo>
                    <a:pt x="842501" y="730435"/>
                  </a:lnTo>
                  <a:lnTo>
                    <a:pt x="814515" y="766296"/>
                  </a:lnTo>
                  <a:lnTo>
                    <a:pt x="783148" y="799241"/>
                  </a:lnTo>
                  <a:lnTo>
                    <a:pt x="748704" y="828952"/>
                  </a:lnTo>
                  <a:lnTo>
                    <a:pt x="711513" y="855145"/>
                  </a:lnTo>
                  <a:lnTo>
                    <a:pt x="671934" y="877566"/>
                  </a:lnTo>
                  <a:lnTo>
                    <a:pt x="630347" y="895999"/>
                  </a:lnTo>
                  <a:lnTo>
                    <a:pt x="587155" y="910268"/>
                  </a:lnTo>
                  <a:lnTo>
                    <a:pt x="542771" y="920234"/>
                  </a:lnTo>
                  <a:lnTo>
                    <a:pt x="497625" y="925802"/>
                  </a:lnTo>
                  <a:lnTo>
                    <a:pt x="463529" y="927058"/>
                  </a:lnTo>
                  <a:close/>
                </a:path>
              </a:pathLst>
            </a:custGeom>
            <a:ln w="3175">
              <a:solidFill>
                <a:srgbClr val="736257"/>
              </a:solidFill>
            </a:ln>
          </p:spPr>
          <p:txBody>
            <a:bodyPr wrap="square" lIns="0" tIns="0" rIns="0" bIns="0" rtlCol="0"/>
            <a:lstStyle/>
            <a:p>
              <a:endParaRPr/>
            </a:p>
          </p:txBody>
        </p:sp>
      </p:grpSp>
      <p:grpSp>
        <p:nvGrpSpPr>
          <p:cNvPr id="9" name="object 9"/>
          <p:cNvGrpSpPr/>
          <p:nvPr/>
        </p:nvGrpSpPr>
        <p:grpSpPr>
          <a:xfrm>
            <a:off x="16992349" y="9218815"/>
            <a:ext cx="502284" cy="502284"/>
            <a:chOff x="9073507" y="2228162"/>
            <a:chExt cx="502284" cy="502284"/>
          </a:xfrm>
        </p:grpSpPr>
        <p:sp>
          <p:nvSpPr>
            <p:cNvPr id="10" name="object 10"/>
            <p:cNvSpPr/>
            <p:nvPr/>
          </p:nvSpPr>
          <p:spPr>
            <a:xfrm>
              <a:off x="9074119" y="2228773"/>
              <a:ext cx="501015" cy="501015"/>
            </a:xfrm>
            <a:custGeom>
              <a:avLst/>
              <a:gdLst/>
              <a:ahLst/>
              <a:cxnLst/>
              <a:rect l="l" t="t" r="r" b="b"/>
              <a:pathLst>
                <a:path w="501015" h="501014">
                  <a:moveTo>
                    <a:pt x="0" y="258582"/>
                  </a:moveTo>
                  <a:lnTo>
                    <a:pt x="0" y="242181"/>
                  </a:lnTo>
                  <a:lnTo>
                    <a:pt x="401" y="234001"/>
                  </a:lnTo>
                  <a:lnTo>
                    <a:pt x="6410" y="193492"/>
                  </a:lnTo>
                  <a:lnTo>
                    <a:pt x="22197" y="146988"/>
                  </a:lnTo>
                  <a:lnTo>
                    <a:pt x="46752" y="104458"/>
                  </a:lnTo>
                  <a:lnTo>
                    <a:pt x="79133" y="67536"/>
                  </a:lnTo>
                  <a:lnTo>
                    <a:pt x="118095" y="37641"/>
                  </a:lnTo>
                  <a:lnTo>
                    <a:pt x="162141" y="15921"/>
                  </a:lnTo>
                  <a:lnTo>
                    <a:pt x="209577" y="3211"/>
                  </a:lnTo>
                  <a:lnTo>
                    <a:pt x="242181" y="0"/>
                  </a:lnTo>
                  <a:lnTo>
                    <a:pt x="258582" y="0"/>
                  </a:lnTo>
                  <a:lnTo>
                    <a:pt x="307272" y="6410"/>
                  </a:lnTo>
                  <a:lnTo>
                    <a:pt x="353775" y="22197"/>
                  </a:lnTo>
                  <a:lnTo>
                    <a:pt x="396305" y="46752"/>
                  </a:lnTo>
                  <a:lnTo>
                    <a:pt x="433227" y="79133"/>
                  </a:lnTo>
                  <a:lnTo>
                    <a:pt x="463123" y="118095"/>
                  </a:lnTo>
                  <a:lnTo>
                    <a:pt x="484843" y="162141"/>
                  </a:lnTo>
                  <a:lnTo>
                    <a:pt x="497553" y="209577"/>
                  </a:lnTo>
                  <a:lnTo>
                    <a:pt x="500764" y="242181"/>
                  </a:lnTo>
                  <a:lnTo>
                    <a:pt x="500764" y="258582"/>
                  </a:lnTo>
                  <a:lnTo>
                    <a:pt x="494353" y="307272"/>
                  </a:lnTo>
                  <a:lnTo>
                    <a:pt x="478567" y="353775"/>
                  </a:lnTo>
                  <a:lnTo>
                    <a:pt x="454011" y="396305"/>
                  </a:lnTo>
                  <a:lnTo>
                    <a:pt x="421630" y="433227"/>
                  </a:lnTo>
                  <a:lnTo>
                    <a:pt x="382668" y="463123"/>
                  </a:lnTo>
                  <a:lnTo>
                    <a:pt x="338623" y="484843"/>
                  </a:lnTo>
                  <a:lnTo>
                    <a:pt x="291186" y="497553"/>
                  </a:lnTo>
                  <a:lnTo>
                    <a:pt x="258582" y="500764"/>
                  </a:lnTo>
                  <a:lnTo>
                    <a:pt x="250382" y="500764"/>
                  </a:lnTo>
                  <a:lnTo>
                    <a:pt x="242181" y="500764"/>
                  </a:lnTo>
                  <a:lnTo>
                    <a:pt x="193492" y="494353"/>
                  </a:lnTo>
                  <a:lnTo>
                    <a:pt x="146989" y="478567"/>
                  </a:lnTo>
                  <a:lnTo>
                    <a:pt x="104459" y="454011"/>
                  </a:lnTo>
                  <a:lnTo>
                    <a:pt x="67536" y="421630"/>
                  </a:lnTo>
                  <a:lnTo>
                    <a:pt x="37641" y="382668"/>
                  </a:lnTo>
                  <a:lnTo>
                    <a:pt x="15921" y="338623"/>
                  </a:lnTo>
                  <a:lnTo>
                    <a:pt x="3211" y="291186"/>
                  </a:lnTo>
                  <a:lnTo>
                    <a:pt x="401" y="266763"/>
                  </a:lnTo>
                  <a:lnTo>
                    <a:pt x="0" y="258582"/>
                  </a:lnTo>
                  <a:close/>
                </a:path>
              </a:pathLst>
            </a:custGeom>
            <a:solidFill>
              <a:srgbClr val="20575B"/>
            </a:solidFill>
          </p:spPr>
          <p:txBody>
            <a:bodyPr wrap="square" lIns="0" tIns="0" rIns="0" bIns="0" rtlCol="0"/>
            <a:lstStyle/>
            <a:p>
              <a:endParaRPr/>
            </a:p>
          </p:txBody>
        </p:sp>
        <p:sp>
          <p:nvSpPr>
            <p:cNvPr id="11" name="object 11"/>
            <p:cNvSpPr/>
            <p:nvPr/>
          </p:nvSpPr>
          <p:spPr>
            <a:xfrm>
              <a:off x="9074119" y="2228773"/>
              <a:ext cx="501015" cy="501015"/>
            </a:xfrm>
            <a:custGeom>
              <a:avLst/>
              <a:gdLst/>
              <a:ahLst/>
              <a:cxnLst/>
              <a:rect l="l" t="t" r="r" b="b"/>
              <a:pathLst>
                <a:path w="501015" h="501014">
                  <a:moveTo>
                    <a:pt x="250382" y="500764"/>
                  </a:moveTo>
                  <a:lnTo>
                    <a:pt x="242181" y="500764"/>
                  </a:lnTo>
                  <a:lnTo>
                    <a:pt x="234001" y="500362"/>
                  </a:lnTo>
                  <a:lnTo>
                    <a:pt x="225840" y="499558"/>
                  </a:lnTo>
                  <a:lnTo>
                    <a:pt x="217679" y="498754"/>
                  </a:lnTo>
                  <a:lnTo>
                    <a:pt x="209577" y="497553"/>
                  </a:lnTo>
                  <a:lnTo>
                    <a:pt x="201535" y="495953"/>
                  </a:lnTo>
                  <a:lnTo>
                    <a:pt x="193492" y="494353"/>
                  </a:lnTo>
                  <a:lnTo>
                    <a:pt x="154565" y="481705"/>
                  </a:lnTo>
                  <a:lnTo>
                    <a:pt x="146989" y="478567"/>
                  </a:lnTo>
                  <a:lnTo>
                    <a:pt x="111277" y="458567"/>
                  </a:lnTo>
                  <a:lnTo>
                    <a:pt x="104459" y="454011"/>
                  </a:lnTo>
                  <a:lnTo>
                    <a:pt x="73335" y="427429"/>
                  </a:lnTo>
                  <a:lnTo>
                    <a:pt x="46752" y="396305"/>
                  </a:lnTo>
                  <a:lnTo>
                    <a:pt x="42197" y="389487"/>
                  </a:lnTo>
                  <a:lnTo>
                    <a:pt x="37641" y="382668"/>
                  </a:lnTo>
                  <a:lnTo>
                    <a:pt x="19059" y="346199"/>
                  </a:lnTo>
                  <a:lnTo>
                    <a:pt x="15921" y="338623"/>
                  </a:lnTo>
                  <a:lnTo>
                    <a:pt x="4811" y="299229"/>
                  </a:lnTo>
                  <a:lnTo>
                    <a:pt x="3211" y="291186"/>
                  </a:lnTo>
                  <a:lnTo>
                    <a:pt x="2009" y="283084"/>
                  </a:lnTo>
                  <a:lnTo>
                    <a:pt x="1205" y="274923"/>
                  </a:lnTo>
                  <a:lnTo>
                    <a:pt x="401" y="266763"/>
                  </a:lnTo>
                  <a:lnTo>
                    <a:pt x="0" y="258582"/>
                  </a:lnTo>
                  <a:lnTo>
                    <a:pt x="0" y="250382"/>
                  </a:lnTo>
                  <a:lnTo>
                    <a:pt x="0" y="242181"/>
                  </a:lnTo>
                  <a:lnTo>
                    <a:pt x="4811" y="201535"/>
                  </a:lnTo>
                  <a:lnTo>
                    <a:pt x="6410" y="193492"/>
                  </a:lnTo>
                  <a:lnTo>
                    <a:pt x="8400" y="185547"/>
                  </a:lnTo>
                  <a:lnTo>
                    <a:pt x="10781" y="177700"/>
                  </a:lnTo>
                  <a:lnTo>
                    <a:pt x="13161" y="169852"/>
                  </a:lnTo>
                  <a:lnTo>
                    <a:pt x="15921" y="162141"/>
                  </a:lnTo>
                  <a:lnTo>
                    <a:pt x="19059" y="154565"/>
                  </a:lnTo>
                  <a:lnTo>
                    <a:pt x="22197" y="146988"/>
                  </a:lnTo>
                  <a:lnTo>
                    <a:pt x="42197" y="111277"/>
                  </a:lnTo>
                  <a:lnTo>
                    <a:pt x="46752" y="104458"/>
                  </a:lnTo>
                  <a:lnTo>
                    <a:pt x="51631" y="97880"/>
                  </a:lnTo>
                  <a:lnTo>
                    <a:pt x="56834" y="91541"/>
                  </a:lnTo>
                  <a:lnTo>
                    <a:pt x="62036" y="85202"/>
                  </a:lnTo>
                  <a:lnTo>
                    <a:pt x="67536" y="79133"/>
                  </a:lnTo>
                  <a:lnTo>
                    <a:pt x="73335" y="73335"/>
                  </a:lnTo>
                  <a:lnTo>
                    <a:pt x="79133" y="67536"/>
                  </a:lnTo>
                  <a:lnTo>
                    <a:pt x="111277" y="42196"/>
                  </a:lnTo>
                  <a:lnTo>
                    <a:pt x="146989" y="22197"/>
                  </a:lnTo>
                  <a:lnTo>
                    <a:pt x="185547" y="8400"/>
                  </a:lnTo>
                  <a:lnTo>
                    <a:pt x="225840" y="1205"/>
                  </a:lnTo>
                  <a:lnTo>
                    <a:pt x="242181" y="0"/>
                  </a:lnTo>
                  <a:lnTo>
                    <a:pt x="250382" y="0"/>
                  </a:lnTo>
                  <a:lnTo>
                    <a:pt x="258582" y="0"/>
                  </a:lnTo>
                  <a:lnTo>
                    <a:pt x="266763" y="401"/>
                  </a:lnTo>
                  <a:lnTo>
                    <a:pt x="274924" y="1205"/>
                  </a:lnTo>
                  <a:lnTo>
                    <a:pt x="283084" y="2009"/>
                  </a:lnTo>
                  <a:lnTo>
                    <a:pt x="323064" y="10781"/>
                  </a:lnTo>
                  <a:lnTo>
                    <a:pt x="361179" y="25699"/>
                  </a:lnTo>
                  <a:lnTo>
                    <a:pt x="368411" y="29564"/>
                  </a:lnTo>
                  <a:lnTo>
                    <a:pt x="375643" y="33430"/>
                  </a:lnTo>
                  <a:lnTo>
                    <a:pt x="409223" y="56834"/>
                  </a:lnTo>
                  <a:lnTo>
                    <a:pt x="415562" y="62036"/>
                  </a:lnTo>
                  <a:lnTo>
                    <a:pt x="443930" y="91541"/>
                  </a:lnTo>
                  <a:lnTo>
                    <a:pt x="467334" y="125120"/>
                  </a:lnTo>
                  <a:lnTo>
                    <a:pt x="484843" y="162141"/>
                  </a:lnTo>
                  <a:lnTo>
                    <a:pt x="495953" y="201535"/>
                  </a:lnTo>
                  <a:lnTo>
                    <a:pt x="497553" y="209577"/>
                  </a:lnTo>
                  <a:lnTo>
                    <a:pt x="498755" y="217679"/>
                  </a:lnTo>
                  <a:lnTo>
                    <a:pt x="499558" y="225840"/>
                  </a:lnTo>
                  <a:lnTo>
                    <a:pt x="500362" y="234001"/>
                  </a:lnTo>
                  <a:lnTo>
                    <a:pt x="500764" y="242181"/>
                  </a:lnTo>
                  <a:lnTo>
                    <a:pt x="500764" y="250382"/>
                  </a:lnTo>
                  <a:lnTo>
                    <a:pt x="500764" y="258582"/>
                  </a:lnTo>
                  <a:lnTo>
                    <a:pt x="500362" y="266763"/>
                  </a:lnTo>
                  <a:lnTo>
                    <a:pt x="499558" y="274923"/>
                  </a:lnTo>
                  <a:lnTo>
                    <a:pt x="498755" y="283084"/>
                  </a:lnTo>
                  <a:lnTo>
                    <a:pt x="497553" y="291186"/>
                  </a:lnTo>
                  <a:lnTo>
                    <a:pt x="495953" y="299229"/>
                  </a:lnTo>
                  <a:lnTo>
                    <a:pt x="494353" y="307272"/>
                  </a:lnTo>
                  <a:lnTo>
                    <a:pt x="481705" y="346199"/>
                  </a:lnTo>
                  <a:lnTo>
                    <a:pt x="478567" y="353775"/>
                  </a:lnTo>
                  <a:lnTo>
                    <a:pt x="475065" y="361179"/>
                  </a:lnTo>
                  <a:lnTo>
                    <a:pt x="471199" y="368411"/>
                  </a:lnTo>
                  <a:lnTo>
                    <a:pt x="467334" y="375643"/>
                  </a:lnTo>
                  <a:lnTo>
                    <a:pt x="463123" y="382668"/>
                  </a:lnTo>
                  <a:lnTo>
                    <a:pt x="458567" y="389486"/>
                  </a:lnTo>
                  <a:lnTo>
                    <a:pt x="454011" y="396305"/>
                  </a:lnTo>
                  <a:lnTo>
                    <a:pt x="427429" y="427429"/>
                  </a:lnTo>
                  <a:lnTo>
                    <a:pt x="421630" y="433227"/>
                  </a:lnTo>
                  <a:lnTo>
                    <a:pt x="415562" y="438728"/>
                  </a:lnTo>
                  <a:lnTo>
                    <a:pt x="409223" y="443930"/>
                  </a:lnTo>
                  <a:lnTo>
                    <a:pt x="402884" y="449132"/>
                  </a:lnTo>
                  <a:lnTo>
                    <a:pt x="368411" y="471199"/>
                  </a:lnTo>
                  <a:lnTo>
                    <a:pt x="346199" y="481705"/>
                  </a:lnTo>
                  <a:lnTo>
                    <a:pt x="338623" y="484843"/>
                  </a:lnTo>
                  <a:lnTo>
                    <a:pt x="330911" y="487602"/>
                  </a:lnTo>
                  <a:lnTo>
                    <a:pt x="323064" y="489982"/>
                  </a:lnTo>
                  <a:lnTo>
                    <a:pt x="315217" y="492363"/>
                  </a:lnTo>
                  <a:lnTo>
                    <a:pt x="307272" y="494353"/>
                  </a:lnTo>
                  <a:lnTo>
                    <a:pt x="299229" y="495953"/>
                  </a:lnTo>
                  <a:lnTo>
                    <a:pt x="291186" y="497553"/>
                  </a:lnTo>
                  <a:lnTo>
                    <a:pt x="283084" y="498755"/>
                  </a:lnTo>
                  <a:lnTo>
                    <a:pt x="274924" y="499558"/>
                  </a:lnTo>
                  <a:lnTo>
                    <a:pt x="266763" y="500362"/>
                  </a:lnTo>
                  <a:lnTo>
                    <a:pt x="258582" y="500764"/>
                  </a:lnTo>
                  <a:lnTo>
                    <a:pt x="250382" y="500764"/>
                  </a:lnTo>
                  <a:close/>
                </a:path>
              </a:pathLst>
            </a:custGeom>
            <a:ln w="3175">
              <a:solidFill>
                <a:srgbClr val="736257"/>
              </a:solidFill>
            </a:ln>
          </p:spPr>
          <p:txBody>
            <a:bodyPr wrap="square" lIns="0" tIns="0" rIns="0" bIns="0" rtlCol="0"/>
            <a:lstStyle/>
            <a:p>
              <a:endParaRPr/>
            </a:p>
          </p:txBody>
        </p:sp>
      </p:grpSp>
      <p:sp>
        <p:nvSpPr>
          <p:cNvPr id="16" name="TextBox 15">
            <a:extLst>
              <a:ext uri="{FF2B5EF4-FFF2-40B4-BE49-F238E27FC236}">
                <a16:creationId xmlns:a16="http://schemas.microsoft.com/office/drawing/2014/main" xmlns="" id="{841C48D0-F7E9-83C6-B160-6C76AAFBB47E}"/>
              </a:ext>
            </a:extLst>
          </p:cNvPr>
          <p:cNvSpPr txBox="1"/>
          <p:nvPr/>
        </p:nvSpPr>
        <p:spPr>
          <a:xfrm>
            <a:off x="1600200" y="1156033"/>
            <a:ext cx="7772400" cy="1015663"/>
          </a:xfrm>
          <a:prstGeom prst="rect">
            <a:avLst/>
          </a:prstGeom>
          <a:noFill/>
        </p:spPr>
        <p:txBody>
          <a:bodyPr wrap="square" rtlCol="0">
            <a:spAutoFit/>
          </a:bodyPr>
          <a:lstStyle/>
          <a:p>
            <a:r>
              <a:rPr lang="en-US" sz="6000" b="1" dirty="0">
                <a:latin typeface="+mn-lt"/>
              </a:rPr>
              <a:t>INTRODUCTION</a:t>
            </a:r>
            <a:endParaRPr lang="en-IN" sz="6000" b="1" dirty="0">
              <a:latin typeface="+mn-lt"/>
            </a:endParaRPr>
          </a:p>
        </p:txBody>
      </p:sp>
      <p:sp>
        <p:nvSpPr>
          <p:cNvPr id="17" name="TextBox 16">
            <a:extLst>
              <a:ext uri="{FF2B5EF4-FFF2-40B4-BE49-F238E27FC236}">
                <a16:creationId xmlns:a16="http://schemas.microsoft.com/office/drawing/2014/main" xmlns="" id="{5C7F8DA2-4C79-9179-DDCC-CA43A05C06F8}"/>
              </a:ext>
            </a:extLst>
          </p:cNvPr>
          <p:cNvSpPr txBox="1"/>
          <p:nvPr/>
        </p:nvSpPr>
        <p:spPr>
          <a:xfrm>
            <a:off x="990600" y="2476500"/>
            <a:ext cx="11696743" cy="6063198"/>
          </a:xfrm>
          <a:prstGeom prst="rect">
            <a:avLst/>
          </a:prstGeom>
          <a:noFill/>
        </p:spPr>
        <p:txBody>
          <a:bodyPr wrap="square" rtlCol="0">
            <a:spAutoFit/>
          </a:bodyPr>
          <a:lstStyle/>
          <a:p>
            <a:pPr marL="457200" lvl="0" indent="-457200">
              <a:buFont typeface="Arial" panose="020B0604020202020204" pitchFamily="34" charset="0"/>
              <a:buChar char="•"/>
            </a:pPr>
            <a:r>
              <a:rPr sz="2400" dirty="0">
                <a:latin typeface="+mn-lt"/>
              </a:rPr>
              <a:t>Employee attrition refers to employees leaving an organization</a:t>
            </a:r>
            <a:r>
              <a:rPr sz="2400" dirty="0" smtClean="0">
                <a:latin typeface="+mn-lt"/>
              </a:rPr>
              <a:t>.</a:t>
            </a:r>
            <a:endParaRPr lang="en-GB" sz="2400" dirty="0" smtClean="0">
              <a:latin typeface="+mn-lt"/>
            </a:endParaRPr>
          </a:p>
          <a:p>
            <a:pPr marL="457200" lvl="0" indent="-457200">
              <a:buFont typeface="Arial" panose="020B0604020202020204" pitchFamily="34" charset="0"/>
              <a:buChar char="•"/>
            </a:pPr>
            <a:endParaRPr lang="en-GB" sz="2400" dirty="0" smtClean="0">
              <a:latin typeface="+mn-lt"/>
            </a:endParaRPr>
          </a:p>
          <a:p>
            <a:pPr marL="457200" lvl="0" indent="-457200">
              <a:buFont typeface="Arial" panose="020B0604020202020204" pitchFamily="34" charset="0"/>
              <a:buChar char="•"/>
            </a:pPr>
            <a:r>
              <a:rPr sz="2400" dirty="0" smtClean="0">
                <a:latin typeface="+mn-lt"/>
              </a:rPr>
              <a:t> </a:t>
            </a:r>
            <a:r>
              <a:rPr sz="2400" dirty="0">
                <a:latin typeface="+mn-lt"/>
              </a:rPr>
              <a:t>Predicting attrition risk can help organizations understand workforce trends and plan retention efforts. </a:t>
            </a:r>
            <a:endParaRPr lang="en-GB" sz="2400" dirty="0" smtClean="0">
              <a:latin typeface="+mn-lt"/>
            </a:endParaRPr>
          </a:p>
          <a:p>
            <a:pPr lvl="0"/>
            <a:endParaRPr lang="en-GB" sz="2400" dirty="0" smtClean="0">
              <a:latin typeface="+mn-lt"/>
            </a:endParaRPr>
          </a:p>
          <a:p>
            <a:pPr marL="457200" lvl="0" indent="-457200">
              <a:buFont typeface="Arial" panose="020B0604020202020204" pitchFamily="34" charset="0"/>
              <a:buChar char="•"/>
            </a:pPr>
            <a:r>
              <a:rPr sz="2400" dirty="0" smtClean="0">
                <a:latin typeface="+mn-lt"/>
              </a:rPr>
              <a:t>Traditional </a:t>
            </a:r>
            <a:r>
              <a:rPr sz="2400" dirty="0">
                <a:latin typeface="+mn-lt"/>
              </a:rPr>
              <a:t>models may provide risk scores without clear explanations. This project applies predictive analytics and explainable AI to estimate attrition risk using workforce features such as job role, tenure, satisfaction, overtime, and work-life balance.</a:t>
            </a:r>
          </a:p>
          <a:p>
            <a:endParaRPr sz="2800" dirty="0">
              <a:latin typeface="+mn-lt"/>
            </a:endParaRPr>
          </a:p>
          <a:p>
            <a:r>
              <a:rPr sz="2400" dirty="0">
                <a:latin typeface="+mn-lt"/>
              </a:rPr>
              <a:t>Predicted risk is grouped into Low, Moderate, and High categories using documented probability thresholds</a:t>
            </a:r>
            <a:r>
              <a:rPr sz="2400" dirty="0" smtClean="0">
                <a:latin typeface="+mn-lt"/>
              </a:rPr>
              <a:t>.</a:t>
            </a:r>
            <a:endParaRPr lang="en-GB" sz="2400" dirty="0" smtClean="0">
              <a:latin typeface="+mn-lt"/>
            </a:endParaRPr>
          </a:p>
          <a:p>
            <a:endParaRPr lang="en-GB" sz="2400" dirty="0" smtClean="0">
              <a:latin typeface="+mn-lt"/>
            </a:endParaRPr>
          </a:p>
          <a:p>
            <a:r>
              <a:rPr sz="2400" dirty="0" smtClean="0">
                <a:latin typeface="+mn-lt"/>
              </a:rPr>
              <a:t>Explanations </a:t>
            </a:r>
            <a:r>
              <a:rPr sz="2400" dirty="0">
                <a:latin typeface="+mn-lt"/>
              </a:rPr>
              <a:t>help authorized HR users understand which factors influenced a prediction</a:t>
            </a:r>
            <a:r>
              <a:rPr sz="2400" dirty="0" smtClean="0">
                <a:latin typeface="+mn-lt"/>
              </a:rPr>
              <a:t>.</a:t>
            </a:r>
            <a:endParaRPr lang="en-GB" sz="2400" dirty="0" smtClean="0">
              <a:latin typeface="+mn-lt"/>
            </a:endParaRPr>
          </a:p>
          <a:p>
            <a:endParaRPr lang="en-GB" sz="2400" dirty="0" smtClean="0">
              <a:latin typeface="+mn-lt"/>
            </a:endParaRPr>
          </a:p>
          <a:p>
            <a:r>
              <a:rPr sz="2400" dirty="0" smtClean="0">
                <a:latin typeface="+mn-lt"/>
              </a:rPr>
              <a:t>The </a:t>
            </a:r>
            <a:r>
              <a:rPr sz="2400" dirty="0">
                <a:latin typeface="+mn-lt"/>
              </a:rPr>
              <a:t>system supports fair, human-reviewed retention planning and should not be the sole basis for employment decisions.</a:t>
            </a:r>
          </a:p>
        </p:txBody>
      </p:sp>
      <p:pic>
        <p:nvPicPr>
          <p:cNvPr id="13" name="Picture 12">
            <a:extLst>
              <a:ext uri="{FF2B5EF4-FFF2-40B4-BE49-F238E27FC236}">
                <a16:creationId xmlns:a16="http://schemas.microsoft.com/office/drawing/2014/main" xmlns="" id="{1695764F-4395-5564-3EB1-B270BE66FCF6}"/>
              </a:ext>
            </a:extLst>
          </p:cNvPr>
          <p:cNvPicPr>
            <a:picLocks noChangeAspect="1"/>
          </p:cNvPicPr>
          <p:nvPr/>
        </p:nvPicPr>
        <p:blipFill>
          <a:blip r:embed="rId2"/>
          <a:stretch>
            <a:fillRect/>
          </a:stretch>
        </p:blipFill>
        <p:spPr>
          <a:xfrm>
            <a:off x="12954000" y="1562100"/>
            <a:ext cx="4781550" cy="6477000"/>
          </a:xfrm>
          <a:prstGeom prst="rect">
            <a:avLst/>
          </a:prstGeom>
        </p:spPr>
      </p:pic>
      <p:pic>
        <p:nvPicPr>
          <p:cNvPr id="3" name="Picture 2">
            <a:extLst>
              <a:ext uri="{FF2B5EF4-FFF2-40B4-BE49-F238E27FC236}">
                <a16:creationId xmlns:a16="http://schemas.microsoft.com/office/drawing/2014/main" xmlns="" id="{9766CB19-21DE-EBE2-24ED-5977A49651CF}"/>
              </a:ext>
            </a:extLst>
          </p:cNvPr>
          <p:cNvPicPr>
            <a:picLocks noChangeAspect="1"/>
          </p:cNvPicPr>
          <p:nvPr/>
        </p:nvPicPr>
        <p:blipFill>
          <a:blip r:embed="rId3"/>
          <a:stretch>
            <a:fillRect/>
          </a:stretch>
        </p:blipFill>
        <p:spPr>
          <a:xfrm>
            <a:off x="0" y="-809450"/>
            <a:ext cx="3188484" cy="2371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0626" cy="10287000"/>
            <a:chOff x="-9624843" y="1082777"/>
            <a:chExt cx="18280626" cy="10287000"/>
          </a:xfrm>
        </p:grpSpPr>
        <p:sp>
          <p:nvSpPr>
            <p:cNvPr id="4" name="object 4"/>
            <p:cNvSpPr/>
            <p:nvPr/>
          </p:nvSpPr>
          <p:spPr>
            <a:xfrm>
              <a:off x="-9624843" y="6739357"/>
              <a:ext cx="2178685" cy="4630420"/>
            </a:xfrm>
            <a:custGeom>
              <a:avLst/>
              <a:gdLst/>
              <a:ahLst/>
              <a:cxnLst/>
              <a:rect l="l" t="t" r="r" b="b"/>
              <a:pathLst>
                <a:path w="2178685" h="4630420">
                  <a:moveTo>
                    <a:pt x="2178430" y="4629858"/>
                  </a:moveTo>
                  <a:lnTo>
                    <a:pt x="0" y="4629858"/>
                  </a:lnTo>
                  <a:lnTo>
                    <a:pt x="0" y="2171160"/>
                  </a:lnTo>
                  <a:lnTo>
                    <a:pt x="2128" y="2074902"/>
                  </a:lnTo>
                  <a:lnTo>
                    <a:pt x="18881" y="1885576"/>
                  </a:lnTo>
                  <a:lnTo>
                    <a:pt x="51695" y="1701107"/>
                  </a:lnTo>
                  <a:lnTo>
                    <a:pt x="99847" y="1522219"/>
                  </a:lnTo>
                  <a:lnTo>
                    <a:pt x="162613" y="1349633"/>
                  </a:lnTo>
                  <a:lnTo>
                    <a:pt x="239272" y="1184073"/>
                  </a:lnTo>
                  <a:lnTo>
                    <a:pt x="329101" y="1026261"/>
                  </a:lnTo>
                  <a:lnTo>
                    <a:pt x="431376" y="876921"/>
                  </a:lnTo>
                  <a:lnTo>
                    <a:pt x="545375" y="736774"/>
                  </a:lnTo>
                  <a:lnTo>
                    <a:pt x="670375" y="606545"/>
                  </a:lnTo>
                  <a:lnTo>
                    <a:pt x="805653" y="486955"/>
                  </a:lnTo>
                  <a:lnTo>
                    <a:pt x="950487" y="378728"/>
                  </a:lnTo>
                  <a:lnTo>
                    <a:pt x="1104153" y="282586"/>
                  </a:lnTo>
                  <a:lnTo>
                    <a:pt x="1265929" y="199252"/>
                  </a:lnTo>
                  <a:lnTo>
                    <a:pt x="1435093" y="129448"/>
                  </a:lnTo>
                  <a:lnTo>
                    <a:pt x="1610920" y="73899"/>
                  </a:lnTo>
                  <a:lnTo>
                    <a:pt x="1792689" y="33325"/>
                  </a:lnTo>
                  <a:lnTo>
                    <a:pt x="1979677" y="8451"/>
                  </a:lnTo>
                  <a:lnTo>
                    <a:pt x="2178430" y="0"/>
                  </a:lnTo>
                  <a:lnTo>
                    <a:pt x="2178430" y="4629858"/>
                  </a:lnTo>
                  <a:close/>
                </a:path>
              </a:pathLst>
            </a:custGeom>
            <a:solidFill>
              <a:srgbClr val="296D72"/>
            </a:solidFill>
          </p:spPr>
          <p:txBody>
            <a:bodyPr wrap="square" lIns="0" tIns="0" rIns="0" bIns="0" rtlCol="0"/>
            <a:lstStyle/>
            <a:p>
              <a:endParaRPr/>
            </a:p>
          </p:txBody>
        </p:sp>
        <p:sp>
          <p:nvSpPr>
            <p:cNvPr id="5" name="object 5"/>
            <p:cNvSpPr/>
            <p:nvPr/>
          </p:nvSpPr>
          <p:spPr>
            <a:xfrm>
              <a:off x="7040978" y="1082777"/>
              <a:ext cx="1614805" cy="2813050"/>
            </a:xfrm>
            <a:custGeom>
              <a:avLst/>
              <a:gdLst/>
              <a:ahLst/>
              <a:cxnLst/>
              <a:rect l="l" t="t" r="r" b="b"/>
              <a:pathLst>
                <a:path w="1614805" h="2813050">
                  <a:moveTo>
                    <a:pt x="1614465" y="2812975"/>
                  </a:moveTo>
                  <a:lnTo>
                    <a:pt x="0" y="2812975"/>
                  </a:lnTo>
                  <a:lnTo>
                    <a:pt x="0" y="0"/>
                  </a:lnTo>
                  <a:lnTo>
                    <a:pt x="180058" y="56537"/>
                  </a:lnTo>
                  <a:lnTo>
                    <a:pt x="349279" y="126254"/>
                  </a:lnTo>
                  <a:lnTo>
                    <a:pt x="511077" y="209496"/>
                  </a:lnTo>
                  <a:lnTo>
                    <a:pt x="664733" y="305546"/>
                  </a:lnTo>
                  <a:lnTo>
                    <a:pt x="809531" y="413685"/>
                  </a:lnTo>
                  <a:lnTo>
                    <a:pt x="944753" y="533195"/>
                  </a:lnTo>
                  <a:lnTo>
                    <a:pt x="1069679" y="663359"/>
                  </a:lnTo>
                  <a:lnTo>
                    <a:pt x="1183594" y="803458"/>
                  </a:lnTo>
                  <a:lnTo>
                    <a:pt x="1285778" y="952775"/>
                  </a:lnTo>
                  <a:lnTo>
                    <a:pt x="1375513" y="1110592"/>
                  </a:lnTo>
                  <a:lnTo>
                    <a:pt x="1452083" y="1276191"/>
                  </a:lnTo>
                  <a:lnTo>
                    <a:pt x="1514768" y="1448854"/>
                  </a:lnTo>
                  <a:lnTo>
                    <a:pt x="1562852" y="1627863"/>
                  </a:lnTo>
                  <a:lnTo>
                    <a:pt x="1595615" y="1812500"/>
                  </a:lnTo>
                  <a:lnTo>
                    <a:pt x="1612341" y="2002047"/>
                  </a:lnTo>
                  <a:lnTo>
                    <a:pt x="1614465" y="2098438"/>
                  </a:lnTo>
                  <a:lnTo>
                    <a:pt x="1614465" y="2812975"/>
                  </a:lnTo>
                  <a:close/>
                </a:path>
              </a:pathLst>
            </a:custGeom>
            <a:solidFill>
              <a:srgbClr val="33959D"/>
            </a:solidFill>
          </p:spPr>
          <p:txBody>
            <a:bodyPr wrap="square" lIns="0" tIns="0" rIns="0" bIns="0" rtlCol="0"/>
            <a:lstStyle/>
            <a:p>
              <a:endParaRPr/>
            </a:p>
          </p:txBody>
        </p:sp>
      </p:grpSp>
      <p:sp>
        <p:nvSpPr>
          <p:cNvPr id="10" name="TextBox 9">
            <a:extLst>
              <a:ext uri="{FF2B5EF4-FFF2-40B4-BE49-F238E27FC236}">
                <a16:creationId xmlns:a16="http://schemas.microsoft.com/office/drawing/2014/main" xmlns="" id="{35272181-0E89-FCB2-471E-472667CCEC65}"/>
              </a:ext>
            </a:extLst>
          </p:cNvPr>
          <p:cNvSpPr txBox="1"/>
          <p:nvPr/>
        </p:nvSpPr>
        <p:spPr>
          <a:xfrm>
            <a:off x="4267200" y="898693"/>
            <a:ext cx="11049000" cy="1015663"/>
          </a:xfrm>
          <a:prstGeom prst="rect">
            <a:avLst/>
          </a:prstGeom>
          <a:noFill/>
        </p:spPr>
        <p:txBody>
          <a:bodyPr wrap="square" rtlCol="0">
            <a:spAutoFit/>
          </a:bodyPr>
          <a:lstStyle/>
          <a:p>
            <a:r>
              <a:rPr lang="en-US" sz="6000" b="1" dirty="0">
                <a:latin typeface="+mn-lt"/>
              </a:rPr>
              <a:t>PROBLEM STATEMENT</a:t>
            </a:r>
            <a:endParaRPr lang="en-IN" sz="6000" b="1" dirty="0">
              <a:latin typeface="+mn-lt"/>
            </a:endParaRPr>
          </a:p>
        </p:txBody>
      </p:sp>
      <p:sp>
        <p:nvSpPr>
          <p:cNvPr id="11" name="TextBox 10">
            <a:extLst>
              <a:ext uri="{FF2B5EF4-FFF2-40B4-BE49-F238E27FC236}">
                <a16:creationId xmlns:a16="http://schemas.microsoft.com/office/drawing/2014/main" xmlns="" id="{7720A0D7-F5A5-04D7-568A-C16637452585}"/>
              </a:ext>
            </a:extLst>
          </p:cNvPr>
          <p:cNvSpPr txBox="1"/>
          <p:nvPr/>
        </p:nvSpPr>
        <p:spPr>
          <a:xfrm>
            <a:off x="2362200" y="2400300"/>
            <a:ext cx="11506200" cy="7109639"/>
          </a:xfrm>
          <a:prstGeom prst="rect">
            <a:avLst/>
          </a:prstGeom>
          <a:noFill/>
        </p:spPr>
        <p:txBody>
          <a:bodyPr wrap="square" rtlCol="0">
            <a:spAutoFit/>
          </a:bodyPr>
          <a:lstStyle/>
          <a:p>
            <a:r>
              <a:rPr sz="2400" dirty="0">
                <a:latin typeface="+mn-lt"/>
              </a:rPr>
              <a:t>Organizations may face employee turnover that disrupts team continuity, increases recruitment costs, and results in loss of experience</a:t>
            </a:r>
            <a:r>
              <a:rPr sz="2400" dirty="0" smtClean="0">
                <a:latin typeface="+mn-lt"/>
              </a:rPr>
              <a:t>.</a:t>
            </a:r>
            <a:endParaRPr lang="en-GB" sz="2400" dirty="0" smtClean="0">
              <a:latin typeface="+mn-lt"/>
            </a:endParaRPr>
          </a:p>
          <a:p>
            <a:endParaRPr lang="en-GB" sz="2400" dirty="0" smtClean="0">
              <a:latin typeface="+mn-lt"/>
            </a:endParaRPr>
          </a:p>
          <a:p>
            <a:r>
              <a:rPr sz="2400" dirty="0" smtClean="0">
                <a:latin typeface="+mn-lt"/>
              </a:rPr>
              <a:t>Reactive </a:t>
            </a:r>
            <a:r>
              <a:rPr sz="2400" dirty="0">
                <a:latin typeface="+mn-lt"/>
              </a:rPr>
              <a:t>approaches may identify retention concerns too late</a:t>
            </a:r>
            <a:r>
              <a:rPr sz="2400" dirty="0" smtClean="0">
                <a:latin typeface="+mn-lt"/>
              </a:rPr>
              <a:t>.</a:t>
            </a:r>
            <a:endParaRPr lang="en-GB" sz="2400" dirty="0" smtClean="0">
              <a:latin typeface="+mn-lt"/>
            </a:endParaRPr>
          </a:p>
          <a:p>
            <a:endParaRPr lang="en-GB" sz="2400" dirty="0" smtClean="0">
              <a:latin typeface="+mn-lt"/>
            </a:endParaRPr>
          </a:p>
          <a:p>
            <a:r>
              <a:rPr sz="2400" dirty="0" smtClean="0">
                <a:latin typeface="+mn-lt"/>
              </a:rPr>
              <a:t>A </a:t>
            </a:r>
            <a:r>
              <a:rPr sz="2400" dirty="0">
                <a:latin typeface="+mn-lt"/>
              </a:rPr>
              <a:t>data-driven system is needed to estimate attrition risk and explain the main factors behind each prediction so HR teams can investigate concerns early.</a:t>
            </a:r>
          </a:p>
          <a:p>
            <a:endParaRPr sz="2400" dirty="0"/>
          </a:p>
          <a:p>
            <a:r>
              <a:rPr sz="2400" b="1" dirty="0" smtClean="0">
                <a:latin typeface="+mn-lt"/>
              </a:rPr>
              <a:t>Challenges</a:t>
            </a:r>
            <a:endParaRPr lang="en-GB" sz="2400" b="1" dirty="0" smtClean="0">
              <a:latin typeface="+mn-lt"/>
            </a:endParaRPr>
          </a:p>
          <a:p>
            <a:endParaRPr sz="2400" dirty="0">
              <a:latin typeface="+mn-lt"/>
            </a:endParaRPr>
          </a:p>
          <a:p>
            <a:r>
              <a:rPr sz="2400" dirty="0">
                <a:latin typeface="+mn-lt"/>
              </a:rPr>
              <a:t>Imbalanced attrition and retention </a:t>
            </a:r>
            <a:r>
              <a:rPr sz="2400" dirty="0" smtClean="0">
                <a:latin typeface="+mn-lt"/>
              </a:rPr>
              <a:t>records</a:t>
            </a:r>
            <a:r>
              <a:rPr lang="en-GB" sz="2400" dirty="0" smtClean="0">
                <a:latin typeface="+mn-lt"/>
              </a:rPr>
              <a:t>.</a:t>
            </a:r>
          </a:p>
          <a:p>
            <a:endParaRPr sz="2400" dirty="0">
              <a:latin typeface="+mn-lt"/>
            </a:endParaRPr>
          </a:p>
          <a:p>
            <a:r>
              <a:rPr sz="2400" dirty="0">
                <a:latin typeface="+mn-lt"/>
              </a:rPr>
              <a:t>Workforce data quality and missing </a:t>
            </a:r>
            <a:r>
              <a:rPr sz="2400" dirty="0" smtClean="0">
                <a:latin typeface="+mn-lt"/>
              </a:rPr>
              <a:t>values</a:t>
            </a:r>
            <a:r>
              <a:rPr lang="en-GB" sz="2400" dirty="0" smtClean="0">
                <a:latin typeface="+mn-lt"/>
              </a:rPr>
              <a:t>.</a:t>
            </a:r>
          </a:p>
          <a:p>
            <a:endParaRPr sz="2400" dirty="0">
              <a:latin typeface="+mn-lt"/>
            </a:endParaRPr>
          </a:p>
          <a:p>
            <a:r>
              <a:rPr sz="2400" dirty="0">
                <a:latin typeface="+mn-lt"/>
              </a:rPr>
              <a:t>Risk of biased or misleading </a:t>
            </a:r>
            <a:r>
              <a:rPr sz="2400" dirty="0" smtClean="0">
                <a:latin typeface="+mn-lt"/>
              </a:rPr>
              <a:t>predictions</a:t>
            </a:r>
            <a:r>
              <a:rPr lang="en-GB" sz="2400" dirty="0" smtClean="0">
                <a:latin typeface="+mn-lt"/>
              </a:rPr>
              <a:t>.</a:t>
            </a:r>
          </a:p>
          <a:p>
            <a:endParaRPr sz="2400" dirty="0">
              <a:latin typeface="+mn-lt"/>
            </a:endParaRPr>
          </a:p>
          <a:p>
            <a:r>
              <a:rPr sz="2400" dirty="0">
                <a:latin typeface="+mn-lt"/>
              </a:rPr>
              <a:t>Limited transparency in complex </a:t>
            </a:r>
            <a:r>
              <a:rPr sz="2400" dirty="0" smtClean="0">
                <a:latin typeface="+mn-lt"/>
              </a:rPr>
              <a:t>models</a:t>
            </a:r>
            <a:r>
              <a:rPr lang="en-GB" sz="2400" dirty="0" smtClean="0">
                <a:latin typeface="+mn-lt"/>
              </a:rPr>
              <a:t>.</a:t>
            </a:r>
          </a:p>
          <a:p>
            <a:endParaRPr sz="2400" dirty="0">
              <a:latin typeface="+mn-lt"/>
            </a:endParaRPr>
          </a:p>
          <a:p>
            <a:r>
              <a:rPr sz="2400" dirty="0">
                <a:latin typeface="+mn-lt"/>
              </a:rPr>
              <a:t>Employee privacy and responsible use of </a:t>
            </a:r>
            <a:r>
              <a:rPr sz="2400" dirty="0" smtClean="0">
                <a:latin typeface="+mn-lt"/>
              </a:rPr>
              <a:t>predictions</a:t>
            </a:r>
            <a:r>
              <a:rPr lang="en-GB" sz="2400" dirty="0" smtClean="0">
                <a:latin typeface="+mn-lt"/>
              </a:rPr>
              <a:t>.</a:t>
            </a:r>
            <a:endParaRPr sz="2400" dirty="0">
              <a:latin typeface="+mn-lt"/>
            </a:endParaRPr>
          </a:p>
        </p:txBody>
      </p:sp>
      <p:pic>
        <p:nvPicPr>
          <p:cNvPr id="7" name="Picture 6">
            <a:extLst>
              <a:ext uri="{FF2B5EF4-FFF2-40B4-BE49-F238E27FC236}">
                <a16:creationId xmlns:a16="http://schemas.microsoft.com/office/drawing/2014/main" xmlns="" id="{1CB424A2-3AE9-AA8C-26C4-91185897233D}"/>
              </a:ext>
            </a:extLst>
          </p:cNvPr>
          <p:cNvPicPr>
            <a:picLocks noChangeAspect="1"/>
          </p:cNvPicPr>
          <p:nvPr/>
        </p:nvPicPr>
        <p:blipFill>
          <a:blip r:embed="rId2"/>
          <a:stretch>
            <a:fillRect/>
          </a:stretch>
        </p:blipFill>
        <p:spPr>
          <a:xfrm>
            <a:off x="12496800" y="5524500"/>
            <a:ext cx="5257800" cy="4572000"/>
          </a:xfrm>
          <a:prstGeom prst="rect">
            <a:avLst/>
          </a:prstGeom>
        </p:spPr>
      </p:pic>
      <p:pic>
        <p:nvPicPr>
          <p:cNvPr id="3" name="Picture 2" descr="MAPS &amp; DIRECTIONS - Best Private University in Telangana ...">
            <a:extLst>
              <a:ext uri="{FF2B5EF4-FFF2-40B4-BE49-F238E27FC236}">
                <a16:creationId xmlns:a16="http://schemas.microsoft.com/office/drawing/2014/main" xmlns="" id="{096C54A6-926D-10D1-4350-36E4A5E2F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514" y="-647700"/>
            <a:ext cx="3190875" cy="2371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338" y="0"/>
            <a:ext cx="5071745" cy="2867025"/>
          </a:xfrm>
          <a:custGeom>
            <a:avLst/>
            <a:gdLst/>
            <a:ahLst/>
            <a:cxnLst/>
            <a:rect l="l" t="t" r="r" b="b"/>
            <a:pathLst>
              <a:path w="5071745" h="2867025">
                <a:moveTo>
                  <a:pt x="2802565" y="1306030"/>
                </a:moveTo>
                <a:lnTo>
                  <a:pt x="505287" y="1306030"/>
                </a:lnTo>
                <a:lnTo>
                  <a:pt x="551378" y="1303168"/>
                </a:lnTo>
                <a:lnTo>
                  <a:pt x="595760" y="1294811"/>
                </a:lnTo>
                <a:lnTo>
                  <a:pt x="638087" y="1281304"/>
                </a:lnTo>
                <a:lnTo>
                  <a:pt x="678016" y="1262990"/>
                </a:lnTo>
                <a:lnTo>
                  <a:pt x="715202" y="1240213"/>
                </a:lnTo>
                <a:lnTo>
                  <a:pt x="749302" y="1213318"/>
                </a:lnTo>
                <a:lnTo>
                  <a:pt x="779972" y="1182649"/>
                </a:lnTo>
                <a:lnTo>
                  <a:pt x="806867" y="1148549"/>
                </a:lnTo>
                <a:lnTo>
                  <a:pt x="829643" y="1111363"/>
                </a:lnTo>
                <a:lnTo>
                  <a:pt x="847957" y="1071434"/>
                </a:lnTo>
                <a:lnTo>
                  <a:pt x="861464" y="1029107"/>
                </a:lnTo>
                <a:lnTo>
                  <a:pt x="869821" y="984725"/>
                </a:lnTo>
                <a:lnTo>
                  <a:pt x="872683" y="938633"/>
                </a:lnTo>
                <a:lnTo>
                  <a:pt x="872683" y="0"/>
                </a:lnTo>
                <a:lnTo>
                  <a:pt x="2435169" y="0"/>
                </a:lnTo>
                <a:lnTo>
                  <a:pt x="2435169" y="938633"/>
                </a:lnTo>
                <a:lnTo>
                  <a:pt x="2438031" y="984725"/>
                </a:lnTo>
                <a:lnTo>
                  <a:pt x="2446388" y="1029107"/>
                </a:lnTo>
                <a:lnTo>
                  <a:pt x="2459895" y="1071434"/>
                </a:lnTo>
                <a:lnTo>
                  <a:pt x="2478209" y="1111363"/>
                </a:lnTo>
                <a:lnTo>
                  <a:pt x="2500985" y="1148549"/>
                </a:lnTo>
                <a:lnTo>
                  <a:pt x="2527880" y="1182649"/>
                </a:lnTo>
                <a:lnTo>
                  <a:pt x="2558550" y="1213318"/>
                </a:lnTo>
                <a:lnTo>
                  <a:pt x="2592649" y="1240213"/>
                </a:lnTo>
                <a:lnTo>
                  <a:pt x="2629836" y="1262990"/>
                </a:lnTo>
                <a:lnTo>
                  <a:pt x="2669765" y="1281304"/>
                </a:lnTo>
                <a:lnTo>
                  <a:pt x="2712092" y="1294811"/>
                </a:lnTo>
                <a:lnTo>
                  <a:pt x="2756473" y="1303168"/>
                </a:lnTo>
                <a:lnTo>
                  <a:pt x="2802565" y="1306030"/>
                </a:lnTo>
                <a:close/>
              </a:path>
              <a:path w="5071745" h="2867025">
                <a:moveTo>
                  <a:pt x="5071281" y="1306030"/>
                </a:moveTo>
                <a:lnTo>
                  <a:pt x="3140798" y="1306030"/>
                </a:lnTo>
                <a:lnTo>
                  <a:pt x="3186890" y="1303168"/>
                </a:lnTo>
                <a:lnTo>
                  <a:pt x="3231271" y="1294811"/>
                </a:lnTo>
                <a:lnTo>
                  <a:pt x="3273598" y="1281304"/>
                </a:lnTo>
                <a:lnTo>
                  <a:pt x="3313527" y="1262990"/>
                </a:lnTo>
                <a:lnTo>
                  <a:pt x="3350714" y="1240213"/>
                </a:lnTo>
                <a:lnTo>
                  <a:pt x="3384814" y="1213318"/>
                </a:lnTo>
                <a:lnTo>
                  <a:pt x="3415483" y="1182649"/>
                </a:lnTo>
                <a:lnTo>
                  <a:pt x="3442378" y="1148549"/>
                </a:lnTo>
                <a:lnTo>
                  <a:pt x="3465154" y="1111363"/>
                </a:lnTo>
                <a:lnTo>
                  <a:pt x="3483468" y="1071434"/>
                </a:lnTo>
                <a:lnTo>
                  <a:pt x="3496976" y="1029107"/>
                </a:lnTo>
                <a:lnTo>
                  <a:pt x="3505332" y="984725"/>
                </a:lnTo>
                <a:lnTo>
                  <a:pt x="3508194" y="938633"/>
                </a:lnTo>
                <a:lnTo>
                  <a:pt x="3508194" y="0"/>
                </a:lnTo>
                <a:lnTo>
                  <a:pt x="5071281" y="0"/>
                </a:lnTo>
                <a:lnTo>
                  <a:pt x="5071281" y="1306030"/>
                </a:lnTo>
                <a:close/>
              </a:path>
              <a:path w="5071745" h="2867025">
                <a:moveTo>
                  <a:pt x="1105988" y="2867024"/>
                </a:moveTo>
                <a:lnTo>
                  <a:pt x="0" y="2867024"/>
                </a:lnTo>
                <a:lnTo>
                  <a:pt x="0" y="1265593"/>
                </a:lnTo>
                <a:lnTo>
                  <a:pt x="34253" y="1281304"/>
                </a:lnTo>
                <a:lnTo>
                  <a:pt x="76580" y="1294811"/>
                </a:lnTo>
                <a:lnTo>
                  <a:pt x="120962" y="1303168"/>
                </a:lnTo>
                <a:lnTo>
                  <a:pt x="167054" y="1306030"/>
                </a:lnTo>
                <a:lnTo>
                  <a:pt x="5071281" y="1306030"/>
                </a:lnTo>
                <a:lnTo>
                  <a:pt x="5071281" y="1562485"/>
                </a:lnTo>
                <a:lnTo>
                  <a:pt x="1473384" y="1562485"/>
                </a:lnTo>
                <a:lnTo>
                  <a:pt x="1427293" y="1565347"/>
                </a:lnTo>
                <a:lnTo>
                  <a:pt x="1382911" y="1573704"/>
                </a:lnTo>
                <a:lnTo>
                  <a:pt x="1340584" y="1587211"/>
                </a:lnTo>
                <a:lnTo>
                  <a:pt x="1300655" y="1605525"/>
                </a:lnTo>
                <a:lnTo>
                  <a:pt x="1263469" y="1628302"/>
                </a:lnTo>
                <a:lnTo>
                  <a:pt x="1229369" y="1655197"/>
                </a:lnTo>
                <a:lnTo>
                  <a:pt x="1198700" y="1685866"/>
                </a:lnTo>
                <a:lnTo>
                  <a:pt x="1171805" y="1719966"/>
                </a:lnTo>
                <a:lnTo>
                  <a:pt x="1149028" y="1757152"/>
                </a:lnTo>
                <a:lnTo>
                  <a:pt x="1130714" y="1797081"/>
                </a:lnTo>
                <a:lnTo>
                  <a:pt x="1117207" y="1839408"/>
                </a:lnTo>
                <a:lnTo>
                  <a:pt x="1108850" y="1883790"/>
                </a:lnTo>
                <a:lnTo>
                  <a:pt x="1105988" y="1929882"/>
                </a:lnTo>
                <a:lnTo>
                  <a:pt x="1105988" y="2867024"/>
                </a:lnTo>
                <a:close/>
              </a:path>
              <a:path w="5071745" h="2867025">
                <a:moveTo>
                  <a:pt x="3741800" y="2867024"/>
                </a:moveTo>
                <a:lnTo>
                  <a:pt x="2179014" y="2867024"/>
                </a:lnTo>
                <a:lnTo>
                  <a:pt x="2179014" y="1929882"/>
                </a:lnTo>
                <a:lnTo>
                  <a:pt x="2176152" y="1883790"/>
                </a:lnTo>
                <a:lnTo>
                  <a:pt x="2167795" y="1839408"/>
                </a:lnTo>
                <a:lnTo>
                  <a:pt x="2154288" y="1797081"/>
                </a:lnTo>
                <a:lnTo>
                  <a:pt x="2135974" y="1757152"/>
                </a:lnTo>
                <a:lnTo>
                  <a:pt x="2113197" y="1719966"/>
                </a:lnTo>
                <a:lnTo>
                  <a:pt x="2086302" y="1685866"/>
                </a:lnTo>
                <a:lnTo>
                  <a:pt x="2055633" y="1655197"/>
                </a:lnTo>
                <a:lnTo>
                  <a:pt x="2021533" y="1628302"/>
                </a:lnTo>
                <a:lnTo>
                  <a:pt x="1984347" y="1605525"/>
                </a:lnTo>
                <a:lnTo>
                  <a:pt x="1944418" y="1587211"/>
                </a:lnTo>
                <a:lnTo>
                  <a:pt x="1902091" y="1573704"/>
                </a:lnTo>
                <a:lnTo>
                  <a:pt x="1857709" y="1565347"/>
                </a:lnTo>
                <a:lnTo>
                  <a:pt x="1811617" y="1562485"/>
                </a:lnTo>
                <a:lnTo>
                  <a:pt x="4109196" y="1562485"/>
                </a:lnTo>
                <a:lnTo>
                  <a:pt x="4063105" y="1565347"/>
                </a:lnTo>
                <a:lnTo>
                  <a:pt x="4018723" y="1573704"/>
                </a:lnTo>
                <a:lnTo>
                  <a:pt x="3976396" y="1587211"/>
                </a:lnTo>
                <a:lnTo>
                  <a:pt x="3936467" y="1605525"/>
                </a:lnTo>
                <a:lnTo>
                  <a:pt x="3899281" y="1628302"/>
                </a:lnTo>
                <a:lnTo>
                  <a:pt x="3865181" y="1655197"/>
                </a:lnTo>
                <a:lnTo>
                  <a:pt x="3834511" y="1685866"/>
                </a:lnTo>
                <a:lnTo>
                  <a:pt x="3807616" y="1719966"/>
                </a:lnTo>
                <a:lnTo>
                  <a:pt x="3784840" y="1757152"/>
                </a:lnTo>
                <a:lnTo>
                  <a:pt x="3766526" y="1797081"/>
                </a:lnTo>
                <a:lnTo>
                  <a:pt x="3753019" y="1839408"/>
                </a:lnTo>
                <a:lnTo>
                  <a:pt x="3744662" y="1883790"/>
                </a:lnTo>
                <a:lnTo>
                  <a:pt x="3741800" y="1929882"/>
                </a:lnTo>
                <a:lnTo>
                  <a:pt x="3741800" y="2867024"/>
                </a:lnTo>
                <a:close/>
              </a:path>
            </a:pathLst>
          </a:custGeom>
          <a:solidFill>
            <a:srgbClr val="AFD5D0"/>
          </a:solidFill>
        </p:spPr>
        <p:txBody>
          <a:bodyPr wrap="square" lIns="0" tIns="0" rIns="0" bIns="0" rtlCol="0"/>
          <a:lstStyle/>
          <a:p>
            <a:endParaRPr/>
          </a:p>
        </p:txBody>
      </p:sp>
      <p:sp>
        <p:nvSpPr>
          <p:cNvPr id="10" name="object 10"/>
          <p:cNvSpPr txBox="1">
            <a:spLocks noGrp="1"/>
          </p:cNvSpPr>
          <p:nvPr>
            <p:ph type="title"/>
          </p:nvPr>
        </p:nvSpPr>
        <p:spPr>
          <a:xfrm>
            <a:off x="5044706" y="1028700"/>
            <a:ext cx="9148936" cy="1213540"/>
          </a:xfrm>
          <a:prstGeom prst="rect">
            <a:avLst/>
          </a:prstGeom>
        </p:spPr>
        <p:txBody>
          <a:bodyPr vert="horz" wrap="square" lIns="0" tIns="287404" rIns="0" bIns="0" rtlCol="0">
            <a:spAutoFit/>
          </a:bodyPr>
          <a:lstStyle/>
          <a:p>
            <a:pPr marL="12700">
              <a:lnSpc>
                <a:spcPct val="100000"/>
              </a:lnSpc>
              <a:spcBef>
                <a:spcPts val="100"/>
              </a:spcBef>
            </a:pPr>
            <a:r>
              <a:rPr sz="6000" b="1" spc="130" dirty="0">
                <a:solidFill>
                  <a:schemeClr val="tx1"/>
                </a:solidFill>
              </a:rPr>
              <a:t>PROJECT</a:t>
            </a:r>
            <a:r>
              <a:rPr lang="en-US" sz="6000" b="1" spc="130" dirty="0"/>
              <a:t> </a:t>
            </a:r>
            <a:r>
              <a:rPr lang="en-US" sz="6000" b="1" spc="130" dirty="0">
                <a:solidFill>
                  <a:schemeClr val="tx1"/>
                </a:solidFill>
              </a:rPr>
              <a:t>OBJECTIVES</a:t>
            </a:r>
            <a:endParaRPr sz="6000" b="1" dirty="0">
              <a:solidFill>
                <a:schemeClr val="tx1"/>
              </a:solidFill>
            </a:endParaRPr>
          </a:p>
        </p:txBody>
      </p:sp>
      <p:sp>
        <p:nvSpPr>
          <p:cNvPr id="16" name="TextBox 15">
            <a:extLst>
              <a:ext uri="{FF2B5EF4-FFF2-40B4-BE49-F238E27FC236}">
                <a16:creationId xmlns:a16="http://schemas.microsoft.com/office/drawing/2014/main" xmlns="" id="{5A1D1F86-1B7A-17B3-3087-A59DF7050F05}"/>
              </a:ext>
            </a:extLst>
          </p:cNvPr>
          <p:cNvSpPr txBox="1"/>
          <p:nvPr/>
        </p:nvSpPr>
        <p:spPr>
          <a:xfrm>
            <a:off x="3942274" y="3271458"/>
            <a:ext cx="11353800" cy="6370975"/>
          </a:xfrm>
          <a:prstGeom prst="rect">
            <a:avLst/>
          </a:prstGeom>
          <a:noFill/>
        </p:spPr>
        <p:txBody>
          <a:bodyPr wrap="square" rtlCol="0">
            <a:spAutoFit/>
          </a:bodyPr>
          <a:lstStyle/>
          <a:p>
            <a:pPr lvl="0"/>
            <a:r>
              <a:rPr sz="2400" dirty="0">
                <a:latin typeface="+mn-lt"/>
              </a:rPr>
              <a:t>To build a predictive analytics pipeline for estimating employee attrition risk</a:t>
            </a:r>
            <a:r>
              <a:rPr sz="2400" dirty="0" smtClean="0">
                <a:latin typeface="+mn-lt"/>
              </a:rPr>
              <a:t>.</a:t>
            </a:r>
            <a:endParaRPr lang="en-GB" sz="2400" dirty="0" smtClean="0">
              <a:latin typeface="+mn-lt"/>
            </a:endParaRPr>
          </a:p>
          <a:p>
            <a:pPr lvl="0"/>
            <a:endParaRPr sz="2400" dirty="0">
              <a:latin typeface="+mn-lt"/>
            </a:endParaRPr>
          </a:p>
          <a:p>
            <a:r>
              <a:rPr sz="2400" dirty="0">
                <a:latin typeface="+mn-lt"/>
              </a:rPr>
              <a:t>To prepare and analyze workforce data using appropriate preprocessing and exploratory analysis</a:t>
            </a:r>
            <a:r>
              <a:rPr sz="2400" dirty="0" smtClean="0">
                <a:latin typeface="+mn-lt"/>
              </a:rPr>
              <a:t>.</a:t>
            </a:r>
            <a:endParaRPr lang="en-GB" sz="2400" dirty="0" smtClean="0">
              <a:latin typeface="+mn-lt"/>
            </a:endParaRPr>
          </a:p>
          <a:p>
            <a:endParaRPr sz="2400" dirty="0">
              <a:latin typeface="+mn-lt"/>
            </a:endParaRPr>
          </a:p>
          <a:p>
            <a:r>
              <a:rPr sz="2400" dirty="0">
                <a:latin typeface="+mn-lt"/>
              </a:rPr>
              <a:t>To compare Logistic Regression, Decision Tree, Random Forest, and Gradient Boosting models</a:t>
            </a:r>
            <a:r>
              <a:rPr sz="2400" dirty="0" smtClean="0">
                <a:latin typeface="+mn-lt"/>
              </a:rPr>
              <a:t>.</a:t>
            </a:r>
            <a:endParaRPr lang="en-GB" sz="2400" dirty="0" smtClean="0">
              <a:latin typeface="+mn-lt"/>
            </a:endParaRPr>
          </a:p>
          <a:p>
            <a:endParaRPr sz="2400" dirty="0">
              <a:latin typeface="+mn-lt"/>
            </a:endParaRPr>
          </a:p>
          <a:p>
            <a:r>
              <a:rPr sz="2400" dirty="0">
                <a:latin typeface="+mn-lt"/>
              </a:rPr>
              <a:t>To classify predicted risk as Low, Moderate, or High using documented probability thresholds</a:t>
            </a:r>
            <a:r>
              <a:rPr sz="2400" dirty="0" smtClean="0">
                <a:latin typeface="+mn-lt"/>
              </a:rPr>
              <a:t>.</a:t>
            </a:r>
            <a:endParaRPr lang="en-GB" sz="2400" dirty="0" smtClean="0">
              <a:latin typeface="+mn-lt"/>
            </a:endParaRPr>
          </a:p>
          <a:p>
            <a:endParaRPr sz="2400" dirty="0">
              <a:latin typeface="+mn-lt"/>
            </a:endParaRPr>
          </a:p>
          <a:p>
            <a:r>
              <a:rPr sz="2400" dirty="0">
                <a:latin typeface="+mn-lt"/>
              </a:rPr>
              <a:t>To explain predictions using feature importance and SHAP-based explanations where appropriate</a:t>
            </a:r>
            <a:r>
              <a:rPr sz="2400" dirty="0" smtClean="0">
                <a:latin typeface="+mn-lt"/>
              </a:rPr>
              <a:t>.</a:t>
            </a:r>
            <a:endParaRPr lang="en-GB" sz="2400" dirty="0" smtClean="0">
              <a:latin typeface="+mn-lt"/>
            </a:endParaRPr>
          </a:p>
          <a:p>
            <a:endParaRPr sz="2400" dirty="0">
              <a:latin typeface="+mn-lt"/>
            </a:endParaRPr>
          </a:p>
          <a:p>
            <a:r>
              <a:rPr sz="2400" dirty="0">
                <a:latin typeface="+mn-lt"/>
              </a:rPr>
              <a:t>To evaluate models using Precision, Recall, F1-score, ROC-AUC, and a confusion matrix</a:t>
            </a:r>
            <a:r>
              <a:rPr sz="2400" dirty="0" smtClean="0">
                <a:latin typeface="+mn-lt"/>
              </a:rPr>
              <a:t>.</a:t>
            </a:r>
            <a:endParaRPr lang="en-GB" sz="2400" dirty="0" smtClean="0">
              <a:latin typeface="+mn-lt"/>
            </a:endParaRPr>
          </a:p>
          <a:p>
            <a:endParaRPr sz="2400" dirty="0">
              <a:latin typeface="+mn-lt"/>
            </a:endParaRPr>
          </a:p>
          <a:p>
            <a:r>
              <a:rPr sz="2400" dirty="0">
                <a:latin typeface="+mn-lt"/>
              </a:rPr>
              <a:t>To emphasize privacy, fairness, and human review in HR decision-making.</a:t>
            </a:r>
          </a:p>
        </p:txBody>
      </p:sp>
      <p:pic>
        <p:nvPicPr>
          <p:cNvPr id="3" name="Picture 2" descr="MAPS &amp; DIRECTIONS - Best Private University in Telangana ...">
            <a:extLst>
              <a:ext uri="{FF2B5EF4-FFF2-40B4-BE49-F238E27FC236}">
                <a16:creationId xmlns:a16="http://schemas.microsoft.com/office/drawing/2014/main" xmlns="" id="{096C54A6-926D-10D1-4350-36E4A5E2FE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488346"/>
            <a:ext cx="3190875" cy="2371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xmlns="" id="{BEB85ECA-26BA-5EC4-3025-9BF421F28733}"/>
              </a:ext>
            </a:extLst>
          </p:cNvPr>
          <p:cNvSpPr>
            <a:spLocks noGrp="1"/>
          </p:cNvSpPr>
          <p:nvPr>
            <p:ph type="title"/>
          </p:nvPr>
        </p:nvSpPr>
        <p:spPr>
          <a:xfrm>
            <a:off x="5678186" y="190500"/>
            <a:ext cx="9148936" cy="923330"/>
          </a:xfrm>
        </p:spPr>
        <p:txBody>
          <a:bodyPr/>
          <a:lstStyle/>
          <a:p>
            <a:r>
              <a:rPr lang="en-IN" sz="6000" b="1" dirty="0">
                <a:solidFill>
                  <a:schemeClr val="tx1"/>
                </a:solidFill>
              </a:rPr>
              <a:t>Literature Survey</a:t>
            </a:r>
          </a:p>
        </p:txBody>
      </p:sp>
      <p:graphicFrame>
        <p:nvGraphicFramePr>
          <p:cNvPr id="5" name="Table 4">
            <a:extLst>
              <a:ext uri="{FF2B5EF4-FFF2-40B4-BE49-F238E27FC236}">
                <a16:creationId xmlns:a16="http://schemas.microsoft.com/office/drawing/2014/main" xmlns="" id="{6FE080C4-15A3-FD20-7A7B-587B193985CB}"/>
              </a:ext>
            </a:extLst>
          </p:cNvPr>
          <p:cNvGraphicFramePr>
            <a:graphicFrameLocks noGrp="1"/>
          </p:cNvGraphicFramePr>
          <p:nvPr>
            <p:extLst>
              <p:ext uri="{D42A27DB-BD31-4B8C-83A1-F6EECF244321}">
                <p14:modId xmlns:p14="http://schemas.microsoft.com/office/powerpoint/2010/main" val="2031072627"/>
              </p:ext>
            </p:extLst>
          </p:nvPr>
        </p:nvGraphicFramePr>
        <p:xfrm>
          <a:off x="762000" y="1883565"/>
          <a:ext cx="16611601" cy="7150748"/>
        </p:xfrm>
        <a:graphic>
          <a:graphicData uri="http://schemas.openxmlformats.org/drawingml/2006/table">
            <a:tbl>
              <a:tblPr/>
              <a:tblGrid>
                <a:gridCol w="5596420">
                  <a:extLst>
                    <a:ext uri="{9D8B030D-6E8A-4147-A177-3AD203B41FA5}">
                      <a16:colId xmlns:a16="http://schemas.microsoft.com/office/drawing/2014/main" xmlns="" val="1456192312"/>
                    </a:ext>
                  </a:extLst>
                </a:gridCol>
                <a:gridCol w="3553282">
                  <a:extLst>
                    <a:ext uri="{9D8B030D-6E8A-4147-A177-3AD203B41FA5}">
                      <a16:colId xmlns:a16="http://schemas.microsoft.com/office/drawing/2014/main" xmlns="" val="457741697"/>
                    </a:ext>
                  </a:extLst>
                </a:gridCol>
                <a:gridCol w="4086275">
                  <a:extLst>
                    <a:ext uri="{9D8B030D-6E8A-4147-A177-3AD203B41FA5}">
                      <a16:colId xmlns:a16="http://schemas.microsoft.com/office/drawing/2014/main" xmlns="" val="4185006860"/>
                    </a:ext>
                  </a:extLst>
                </a:gridCol>
                <a:gridCol w="3375624">
                  <a:extLst>
                    <a:ext uri="{9D8B030D-6E8A-4147-A177-3AD203B41FA5}">
                      <a16:colId xmlns:a16="http://schemas.microsoft.com/office/drawing/2014/main" xmlns="" val="757751971"/>
                    </a:ext>
                  </a:extLst>
                </a:gridCol>
              </a:tblGrid>
              <a:tr h="338029">
                <a:tc>
                  <a:txBody>
                    <a:bodyPr/>
                    <a:lstStyle/>
                    <a:p>
                      <a:r>
                        <a:rPr sz="2400" dirty="0"/>
                        <a:t>Research Paper / Source</a:t>
                      </a:r>
                    </a:p>
                  </a:txBody>
                  <a:tcPr marL="37234" marR="37234" marT="18617" marB="18617" anchor="ctr">
                    <a:lnL>
                      <a:noFill/>
                    </a:lnL>
                    <a:lnR>
                      <a:noFill/>
                    </a:lnR>
                    <a:lnT>
                      <a:noFill/>
                    </a:lnT>
                    <a:lnB>
                      <a:noFill/>
                    </a:lnB>
                    <a:noFill/>
                  </a:tcPr>
                </a:tc>
                <a:tc>
                  <a:txBody>
                    <a:bodyPr/>
                    <a:lstStyle/>
                    <a:p>
                      <a:r>
                        <a:rPr sz="2400" dirty="0"/>
                        <a:t>Techniques Used</a:t>
                      </a:r>
                    </a:p>
                  </a:txBody>
                  <a:tcPr marL="37234" marR="37234" marT="18617" marB="18617" anchor="ctr">
                    <a:lnL>
                      <a:noFill/>
                    </a:lnL>
                    <a:lnR>
                      <a:noFill/>
                    </a:lnR>
                    <a:lnT>
                      <a:noFill/>
                    </a:lnT>
                    <a:lnB>
                      <a:noFill/>
                    </a:lnB>
                    <a:noFill/>
                  </a:tcPr>
                </a:tc>
                <a:tc>
                  <a:txBody>
                    <a:bodyPr/>
                    <a:lstStyle/>
                    <a:p>
                      <a:r>
                        <a:rPr sz="2400" dirty="0"/>
                        <a:t>Purpose</a:t>
                      </a:r>
                    </a:p>
                  </a:txBody>
                  <a:tcPr marL="37234" marR="37234" marT="18617" marB="18617" anchor="ctr">
                    <a:lnL>
                      <a:noFill/>
                    </a:lnL>
                    <a:lnR>
                      <a:noFill/>
                    </a:lnR>
                    <a:lnT>
                      <a:noFill/>
                    </a:lnT>
                    <a:lnB>
                      <a:noFill/>
                    </a:lnB>
                    <a:noFill/>
                  </a:tcPr>
                </a:tc>
                <a:tc>
                  <a:txBody>
                    <a:bodyPr/>
                    <a:lstStyle/>
                    <a:p>
                      <a:r>
                        <a:rPr sz="2400" dirty="0"/>
                        <a:t>Limitation</a:t>
                      </a:r>
                    </a:p>
                  </a:txBody>
                  <a:tcPr marL="37234" marR="37234" marT="18617" marB="18617" anchor="ctr">
                    <a:lnL>
                      <a:noFill/>
                    </a:lnL>
                    <a:lnR>
                      <a:noFill/>
                    </a:lnR>
                    <a:lnT>
                      <a:noFill/>
                    </a:lnT>
                    <a:lnB>
                      <a:noFill/>
                    </a:lnB>
                    <a:noFill/>
                  </a:tcPr>
                </a:tc>
                <a:extLst>
                  <a:ext uri="{0D108BD9-81ED-4DB2-BD59-A6C34878D82A}">
                    <a16:rowId xmlns:a16="http://schemas.microsoft.com/office/drawing/2014/main" xmlns="" val="3088182097"/>
                  </a:ext>
                </a:extLst>
              </a:tr>
              <a:tr h="1241723">
                <a:tc>
                  <a:txBody>
                    <a:bodyPr/>
                    <a:lstStyle/>
                    <a:p>
                      <a:r>
                        <a:rPr sz="2400" dirty="0"/>
                        <a:t>Employee Attrition Prediction Methods</a:t>
                      </a:r>
                    </a:p>
                  </a:txBody>
                  <a:tcPr marL="37234" marR="37234" marT="18617" marB="18617" anchor="ctr">
                    <a:lnL>
                      <a:noFill/>
                    </a:lnL>
                    <a:lnR>
                      <a:noFill/>
                    </a:lnR>
                    <a:lnT>
                      <a:noFill/>
                    </a:lnT>
                    <a:lnB>
                      <a:noFill/>
                    </a:lnB>
                    <a:noFill/>
                  </a:tcPr>
                </a:tc>
                <a:tc>
                  <a:txBody>
                    <a:bodyPr/>
                    <a:lstStyle/>
                    <a:p>
                      <a:r>
                        <a:rPr sz="2400" dirty="0"/>
                        <a:t>Logistic Regression, Decision Trees</a:t>
                      </a:r>
                    </a:p>
                  </a:txBody>
                  <a:tcPr marL="37234" marR="37234" marT="18617" marB="18617" anchor="ctr">
                    <a:lnL>
                      <a:noFill/>
                    </a:lnL>
                    <a:lnR>
                      <a:noFill/>
                    </a:lnR>
                    <a:lnT>
                      <a:noFill/>
                    </a:lnT>
                    <a:lnB>
                      <a:noFill/>
                    </a:lnB>
                    <a:noFill/>
                  </a:tcPr>
                </a:tc>
                <a:tc>
                  <a:txBody>
                    <a:bodyPr/>
                    <a:lstStyle/>
                    <a:p>
                      <a:r>
                        <a:rPr sz="2400" dirty="0"/>
                        <a:t>Baseline approaches for predicting employee turnover from HR attributes.</a:t>
                      </a:r>
                    </a:p>
                  </a:txBody>
                  <a:tcPr marL="37234" marR="37234" marT="18617" marB="18617" anchor="ctr">
                    <a:lnL>
                      <a:noFill/>
                    </a:lnL>
                    <a:lnR>
                      <a:noFill/>
                    </a:lnR>
                    <a:lnT>
                      <a:noFill/>
                    </a:lnT>
                    <a:lnB>
                      <a:noFill/>
                    </a:lnB>
                    <a:noFill/>
                  </a:tcPr>
                </a:tc>
                <a:tc>
                  <a:txBody>
                    <a:bodyPr/>
                    <a:lstStyle/>
                    <a:p>
                      <a:r>
                        <a:rPr sz="2400" dirty="0"/>
                        <a:t>Results depend on dataset quality and organizational context.</a:t>
                      </a:r>
                    </a:p>
                  </a:txBody>
                  <a:tcPr marL="37234" marR="37234" marT="18617" marB="18617" anchor="ctr">
                    <a:lnL>
                      <a:noFill/>
                    </a:lnL>
                    <a:lnR>
                      <a:noFill/>
                    </a:lnR>
                    <a:lnT>
                      <a:noFill/>
                    </a:lnT>
                    <a:lnB>
                      <a:noFill/>
                    </a:lnB>
                    <a:noFill/>
                  </a:tcPr>
                </a:tc>
                <a:extLst>
                  <a:ext uri="{0D108BD9-81ED-4DB2-BD59-A6C34878D82A}">
                    <a16:rowId xmlns:a16="http://schemas.microsoft.com/office/drawing/2014/main" xmlns="" val="941431162"/>
                  </a:ext>
                </a:extLst>
              </a:tr>
              <a:tr h="1241723">
                <a:tc>
                  <a:txBody>
                    <a:bodyPr/>
                    <a:lstStyle/>
                    <a:p>
                      <a:r>
                        <a:rPr sz="2400" dirty="0"/>
                        <a:t>IBM HR Analytics Attrition Dataset</a:t>
                      </a:r>
                    </a:p>
                  </a:txBody>
                  <a:tcPr marL="37234" marR="37234" marT="18617" marB="18617" anchor="ctr">
                    <a:lnL>
                      <a:noFill/>
                    </a:lnL>
                    <a:lnR>
                      <a:noFill/>
                    </a:lnR>
                    <a:lnT>
                      <a:noFill/>
                    </a:lnT>
                    <a:lnB>
                      <a:noFill/>
                    </a:lnB>
                    <a:noFill/>
                  </a:tcPr>
                </a:tc>
                <a:tc>
                  <a:txBody>
                    <a:bodyPr/>
                    <a:lstStyle/>
                    <a:p>
                      <a:r>
                        <a:rPr sz="2400" dirty="0"/>
                        <a:t>Supervised Learning, HR Analytics</a:t>
                      </a:r>
                    </a:p>
                  </a:txBody>
                  <a:tcPr marL="37234" marR="37234" marT="18617" marB="18617" anchor="ctr">
                    <a:lnL>
                      <a:noFill/>
                    </a:lnL>
                    <a:lnR>
                      <a:noFill/>
                    </a:lnR>
                    <a:lnT>
                      <a:noFill/>
                    </a:lnT>
                    <a:lnB>
                      <a:noFill/>
                    </a:lnB>
                    <a:noFill/>
                  </a:tcPr>
                </a:tc>
                <a:tc>
                  <a:txBody>
                    <a:bodyPr/>
                    <a:lstStyle/>
                    <a:p>
                      <a:r>
                        <a:rPr sz="2400" dirty="0"/>
                        <a:t>Sample dataset for exploring attrition patterns and developing predictive models.</a:t>
                      </a:r>
                    </a:p>
                  </a:txBody>
                  <a:tcPr marL="37234" marR="37234" marT="18617" marB="18617" anchor="ctr">
                    <a:lnL>
                      <a:noFill/>
                    </a:lnL>
                    <a:lnR>
                      <a:noFill/>
                    </a:lnR>
                    <a:lnT>
                      <a:noFill/>
                    </a:lnT>
                    <a:lnB>
                      <a:noFill/>
                    </a:lnB>
                    <a:noFill/>
                  </a:tcPr>
                </a:tc>
                <a:tc>
                  <a:txBody>
                    <a:bodyPr/>
                    <a:lstStyle/>
                    <a:p>
                      <a:r>
                        <a:rPr sz="2400" dirty="0"/>
                        <a:t>Sample data may not represent a real organization or current workforce.</a:t>
                      </a:r>
                    </a:p>
                  </a:txBody>
                  <a:tcPr marL="37234" marR="37234" marT="18617" marB="18617" anchor="ctr">
                    <a:lnL>
                      <a:noFill/>
                    </a:lnL>
                    <a:lnR>
                      <a:noFill/>
                    </a:lnR>
                    <a:lnT>
                      <a:noFill/>
                    </a:lnT>
                    <a:lnB>
                      <a:noFill/>
                    </a:lnB>
                    <a:noFill/>
                  </a:tcPr>
                </a:tc>
                <a:extLst>
                  <a:ext uri="{0D108BD9-81ED-4DB2-BD59-A6C34878D82A}">
                    <a16:rowId xmlns:a16="http://schemas.microsoft.com/office/drawing/2014/main" xmlns="" val="4228978786"/>
                  </a:ext>
                </a:extLst>
              </a:tr>
              <a:tr h="1241723">
                <a:tc>
                  <a:txBody>
                    <a:bodyPr/>
                    <a:lstStyle/>
                    <a:p>
                      <a:r>
                        <a:rPr sz="2400" dirty="0"/>
                        <a:t>Random Forests (</a:t>
                      </a:r>
                      <a:r>
                        <a:rPr sz="2400" dirty="0" err="1"/>
                        <a:t>Breiman</a:t>
                      </a:r>
                      <a:r>
                        <a:rPr sz="2400" dirty="0"/>
                        <a:t>, 2001)</a:t>
                      </a:r>
                    </a:p>
                  </a:txBody>
                  <a:tcPr marL="37234" marR="37234" marT="18617" marB="18617" anchor="ctr">
                    <a:lnL>
                      <a:noFill/>
                    </a:lnL>
                    <a:lnR>
                      <a:noFill/>
                    </a:lnR>
                    <a:lnT>
                      <a:noFill/>
                    </a:lnT>
                    <a:lnB>
                      <a:noFill/>
                    </a:lnB>
                    <a:noFill/>
                  </a:tcPr>
                </a:tc>
                <a:tc>
                  <a:txBody>
                    <a:bodyPr/>
                    <a:lstStyle/>
                    <a:p>
                      <a:r>
                        <a:rPr sz="2400" dirty="0"/>
                        <a:t>Random Forest Ensemble</a:t>
                      </a:r>
                    </a:p>
                  </a:txBody>
                  <a:tcPr marL="37234" marR="37234" marT="18617" marB="18617" anchor="ctr">
                    <a:lnL>
                      <a:noFill/>
                    </a:lnL>
                    <a:lnR>
                      <a:noFill/>
                    </a:lnR>
                    <a:lnT>
                      <a:noFill/>
                    </a:lnT>
                    <a:lnB>
                      <a:noFill/>
                    </a:lnB>
                    <a:noFill/>
                  </a:tcPr>
                </a:tc>
                <a:tc>
                  <a:txBody>
                    <a:bodyPr/>
                    <a:lstStyle/>
                    <a:p>
                      <a:r>
                        <a:rPr sz="2400" dirty="0"/>
                        <a:t>Combines decision trees to model nonlinear relationships and interactions.</a:t>
                      </a:r>
                    </a:p>
                  </a:txBody>
                  <a:tcPr marL="37234" marR="37234" marT="18617" marB="18617" anchor="ctr">
                    <a:lnL>
                      <a:noFill/>
                    </a:lnL>
                    <a:lnR>
                      <a:noFill/>
                    </a:lnR>
                    <a:lnT>
                      <a:noFill/>
                    </a:lnT>
                    <a:lnB>
                      <a:noFill/>
                    </a:lnB>
                    <a:noFill/>
                  </a:tcPr>
                </a:tc>
                <a:tc>
                  <a:txBody>
                    <a:bodyPr/>
                    <a:lstStyle/>
                    <a:p>
                      <a:r>
                        <a:rPr sz="2400" dirty="0"/>
                        <a:t>Less transparent than a single tree; calibration may be needed.</a:t>
                      </a:r>
                    </a:p>
                  </a:txBody>
                  <a:tcPr marL="37234" marR="37234" marT="18617" marB="18617" anchor="ctr">
                    <a:lnL>
                      <a:noFill/>
                    </a:lnL>
                    <a:lnR>
                      <a:noFill/>
                    </a:lnR>
                    <a:lnT>
                      <a:noFill/>
                    </a:lnT>
                    <a:lnB>
                      <a:noFill/>
                    </a:lnB>
                    <a:noFill/>
                  </a:tcPr>
                </a:tc>
                <a:extLst>
                  <a:ext uri="{0D108BD9-81ED-4DB2-BD59-A6C34878D82A}">
                    <a16:rowId xmlns:a16="http://schemas.microsoft.com/office/drawing/2014/main" xmlns="" val="1608285260"/>
                  </a:ext>
                </a:extLst>
              </a:tr>
              <a:tr h="1241723">
                <a:tc>
                  <a:txBody>
                    <a:bodyPr/>
                    <a:lstStyle/>
                    <a:p>
                      <a:r>
                        <a:rPr sz="2400" dirty="0"/>
                        <a:t>A Unified Approach to Interpreting Model Predictions (Lundberg &amp; Lee, 2017)</a:t>
                      </a:r>
                    </a:p>
                  </a:txBody>
                  <a:tcPr marL="37234" marR="37234" marT="18617" marB="18617" anchor="ctr">
                    <a:lnL>
                      <a:noFill/>
                    </a:lnL>
                    <a:lnR>
                      <a:noFill/>
                    </a:lnR>
                    <a:lnT>
                      <a:noFill/>
                    </a:lnT>
                    <a:lnB>
                      <a:noFill/>
                    </a:lnB>
                    <a:noFill/>
                  </a:tcPr>
                </a:tc>
                <a:tc>
                  <a:txBody>
                    <a:bodyPr/>
                    <a:lstStyle/>
                    <a:p>
                      <a:r>
                        <a:rPr sz="2400" dirty="0"/>
                        <a:t>SHAP, Feature Attribution</a:t>
                      </a:r>
                    </a:p>
                  </a:txBody>
                  <a:tcPr marL="37234" marR="37234" marT="18617" marB="18617" anchor="ctr">
                    <a:lnL>
                      <a:noFill/>
                    </a:lnL>
                    <a:lnR>
                      <a:noFill/>
                    </a:lnR>
                    <a:lnT>
                      <a:noFill/>
                    </a:lnT>
                    <a:lnB>
                      <a:noFill/>
                    </a:lnB>
                    <a:noFill/>
                  </a:tcPr>
                </a:tc>
                <a:tc>
                  <a:txBody>
                    <a:bodyPr/>
                    <a:lstStyle/>
                    <a:p>
                      <a:r>
                        <a:rPr sz="2400" dirty="0"/>
                        <a:t>Explains predictions through feature contributions.</a:t>
                      </a:r>
                    </a:p>
                  </a:txBody>
                  <a:tcPr marL="37234" marR="37234" marT="18617" marB="18617" anchor="ctr">
                    <a:lnL>
                      <a:noFill/>
                    </a:lnL>
                    <a:lnR>
                      <a:noFill/>
                    </a:lnR>
                    <a:lnT>
                      <a:noFill/>
                    </a:lnT>
                    <a:lnB>
                      <a:noFill/>
                    </a:lnB>
                    <a:noFill/>
                  </a:tcPr>
                </a:tc>
                <a:tc>
                  <a:txBody>
                    <a:bodyPr/>
                    <a:lstStyle/>
                    <a:p>
                      <a:r>
                        <a:rPr sz="2400" dirty="0"/>
                        <a:t>Explains model </a:t>
                      </a:r>
                      <a:r>
                        <a:rPr sz="2400" dirty="0" err="1"/>
                        <a:t>behaviour</a:t>
                      </a:r>
                      <a:r>
                        <a:rPr sz="2400" dirty="0"/>
                        <a:t>, not causation or employee intent.</a:t>
                      </a:r>
                    </a:p>
                  </a:txBody>
                  <a:tcPr marL="37234" marR="37234" marT="18617" marB="18617" anchor="ctr">
                    <a:lnL>
                      <a:noFill/>
                    </a:lnL>
                    <a:lnR>
                      <a:noFill/>
                    </a:lnR>
                    <a:lnT>
                      <a:noFill/>
                    </a:lnT>
                    <a:lnB>
                      <a:noFill/>
                    </a:lnB>
                    <a:noFill/>
                  </a:tcPr>
                </a:tc>
                <a:extLst>
                  <a:ext uri="{0D108BD9-81ED-4DB2-BD59-A6C34878D82A}">
                    <a16:rowId xmlns:a16="http://schemas.microsoft.com/office/drawing/2014/main" xmlns="" val="3868114388"/>
                  </a:ext>
                </a:extLst>
              </a:tr>
              <a:tr h="1522311">
                <a:tc>
                  <a:txBody>
                    <a:bodyPr/>
                    <a:lstStyle/>
                    <a:p>
                      <a:r>
                        <a:rPr sz="2400" dirty="0"/>
                        <a:t>Fairness and Accountability in Machine Learning</a:t>
                      </a:r>
                    </a:p>
                  </a:txBody>
                  <a:tcPr marL="37234" marR="37234" marT="18617" marB="18617" anchor="ctr">
                    <a:lnL>
                      <a:noFill/>
                    </a:lnL>
                    <a:lnR>
                      <a:noFill/>
                    </a:lnR>
                    <a:lnT>
                      <a:noFill/>
                    </a:lnT>
                    <a:lnB>
                      <a:noFill/>
                    </a:lnB>
                    <a:noFill/>
                  </a:tcPr>
                </a:tc>
                <a:tc>
                  <a:txBody>
                    <a:bodyPr/>
                    <a:lstStyle/>
                    <a:p>
                      <a:r>
                        <a:rPr sz="2400" dirty="0"/>
                        <a:t>Bias Assessment, Model Governance</a:t>
                      </a:r>
                    </a:p>
                  </a:txBody>
                  <a:tcPr marL="37234" marR="37234" marT="18617" marB="18617" anchor="ctr">
                    <a:lnL>
                      <a:noFill/>
                    </a:lnL>
                    <a:lnR>
                      <a:noFill/>
                    </a:lnR>
                    <a:lnT>
                      <a:noFill/>
                    </a:lnT>
                    <a:lnB>
                      <a:noFill/>
                    </a:lnB>
                    <a:noFill/>
                  </a:tcPr>
                </a:tc>
                <a:tc>
                  <a:txBody>
                    <a:bodyPr/>
                    <a:lstStyle/>
                    <a:p>
                      <a:r>
                        <a:rPr sz="2400" dirty="0"/>
                        <a:t>Highlights the need to assess data, outcomes, and impacts on affected groups.</a:t>
                      </a:r>
                    </a:p>
                  </a:txBody>
                  <a:tcPr marL="37234" marR="37234" marT="18617" marB="18617" anchor="ctr">
                    <a:lnL>
                      <a:noFill/>
                    </a:lnL>
                    <a:lnR>
                      <a:noFill/>
                    </a:lnR>
                    <a:lnT>
                      <a:noFill/>
                    </a:lnT>
                    <a:lnB>
                      <a:noFill/>
                    </a:lnB>
                    <a:noFill/>
                  </a:tcPr>
                </a:tc>
                <a:tc>
                  <a:txBody>
                    <a:bodyPr/>
                    <a:lstStyle/>
                    <a:p>
                      <a:r>
                        <a:rPr sz="2400" dirty="0"/>
                        <a:t>Fairness criteria can conflict; review is context-dependent.</a:t>
                      </a:r>
                    </a:p>
                  </a:txBody>
                  <a:tcPr marL="37234" marR="37234" marT="18617" marB="18617" anchor="ctr">
                    <a:lnL>
                      <a:noFill/>
                    </a:lnL>
                    <a:lnR>
                      <a:noFill/>
                    </a:lnR>
                    <a:lnT>
                      <a:noFill/>
                    </a:lnT>
                    <a:lnB>
                      <a:noFill/>
                    </a:lnB>
                    <a:noFill/>
                  </a:tcPr>
                </a:tc>
                <a:extLst>
                  <a:ext uri="{0D108BD9-81ED-4DB2-BD59-A6C34878D82A}">
                    <a16:rowId xmlns:a16="http://schemas.microsoft.com/office/drawing/2014/main" xmlns="" val="3783312954"/>
                  </a:ext>
                </a:extLst>
              </a:tr>
            </a:tbl>
          </a:graphicData>
        </a:graphic>
      </p:graphicFrame>
      <p:pic>
        <p:nvPicPr>
          <p:cNvPr id="2" name="Picture 1" descr="MAPS &amp; DIRECTIONS - Best Private University in Telangana ...">
            <a:extLst>
              <a:ext uri="{FF2B5EF4-FFF2-40B4-BE49-F238E27FC236}">
                <a16:creationId xmlns:a16="http://schemas.microsoft.com/office/drawing/2014/main" xmlns="" id="{096C54A6-926D-10D1-4350-36E4A5E2FE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71" y="-799527"/>
            <a:ext cx="3190875" cy="2371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6"/>
          <p:cNvSpPr/>
          <p:nvPr/>
        </p:nvSpPr>
        <p:spPr>
          <a:xfrm>
            <a:off x="15406414" y="1553655"/>
            <a:ext cx="1191260" cy="1130300"/>
          </a:xfrm>
          <a:custGeom>
            <a:avLst/>
            <a:gdLst/>
            <a:ahLst/>
            <a:cxnLst/>
            <a:rect l="l" t="t" r="r" b="b"/>
            <a:pathLst>
              <a:path w="1191259" h="1130300">
                <a:moveTo>
                  <a:pt x="1191074" y="1130051"/>
                </a:moveTo>
                <a:lnTo>
                  <a:pt x="0" y="1130051"/>
                </a:lnTo>
                <a:lnTo>
                  <a:pt x="1974" y="1081219"/>
                </a:lnTo>
                <a:lnTo>
                  <a:pt x="7794" y="1033477"/>
                </a:lnTo>
                <a:lnTo>
                  <a:pt x="17307" y="986977"/>
                </a:lnTo>
                <a:lnTo>
                  <a:pt x="30359" y="941873"/>
                </a:lnTo>
                <a:lnTo>
                  <a:pt x="46798" y="898317"/>
                </a:lnTo>
                <a:lnTo>
                  <a:pt x="66469" y="856462"/>
                </a:lnTo>
                <a:lnTo>
                  <a:pt x="89220" y="816460"/>
                </a:lnTo>
                <a:lnTo>
                  <a:pt x="114898" y="778464"/>
                </a:lnTo>
                <a:lnTo>
                  <a:pt x="143348" y="742627"/>
                </a:lnTo>
                <a:lnTo>
                  <a:pt x="174418" y="709100"/>
                </a:lnTo>
                <a:lnTo>
                  <a:pt x="207955" y="678038"/>
                </a:lnTo>
                <a:lnTo>
                  <a:pt x="243805" y="649592"/>
                </a:lnTo>
                <a:lnTo>
                  <a:pt x="281814" y="623915"/>
                </a:lnTo>
                <a:lnTo>
                  <a:pt x="321831" y="601160"/>
                </a:lnTo>
                <a:lnTo>
                  <a:pt x="363700" y="581479"/>
                </a:lnTo>
                <a:lnTo>
                  <a:pt x="407270" y="565025"/>
                </a:lnTo>
                <a:lnTo>
                  <a:pt x="363700" y="548572"/>
                </a:lnTo>
                <a:lnTo>
                  <a:pt x="321831" y="528891"/>
                </a:lnTo>
                <a:lnTo>
                  <a:pt x="281814" y="506136"/>
                </a:lnTo>
                <a:lnTo>
                  <a:pt x="243805" y="480459"/>
                </a:lnTo>
                <a:lnTo>
                  <a:pt x="207955" y="452013"/>
                </a:lnTo>
                <a:lnTo>
                  <a:pt x="174418" y="420950"/>
                </a:lnTo>
                <a:lnTo>
                  <a:pt x="143348" y="387424"/>
                </a:lnTo>
                <a:lnTo>
                  <a:pt x="114898" y="351587"/>
                </a:lnTo>
                <a:lnTo>
                  <a:pt x="89220" y="313591"/>
                </a:lnTo>
                <a:lnTo>
                  <a:pt x="66469" y="273589"/>
                </a:lnTo>
                <a:lnTo>
                  <a:pt x="46798" y="231734"/>
                </a:lnTo>
                <a:lnTo>
                  <a:pt x="30359" y="188178"/>
                </a:lnTo>
                <a:lnTo>
                  <a:pt x="17307" y="143074"/>
                </a:lnTo>
                <a:lnTo>
                  <a:pt x="7794" y="96574"/>
                </a:lnTo>
                <a:lnTo>
                  <a:pt x="1974" y="48832"/>
                </a:lnTo>
                <a:lnTo>
                  <a:pt x="0" y="0"/>
                </a:lnTo>
                <a:lnTo>
                  <a:pt x="1190848" y="0"/>
                </a:lnTo>
                <a:lnTo>
                  <a:pt x="1188874" y="48832"/>
                </a:lnTo>
                <a:lnTo>
                  <a:pt x="1183054" y="96574"/>
                </a:lnTo>
                <a:lnTo>
                  <a:pt x="1173541" y="143074"/>
                </a:lnTo>
                <a:lnTo>
                  <a:pt x="1160489" y="188178"/>
                </a:lnTo>
                <a:lnTo>
                  <a:pt x="1144050" y="231734"/>
                </a:lnTo>
                <a:lnTo>
                  <a:pt x="1124379" y="273589"/>
                </a:lnTo>
                <a:lnTo>
                  <a:pt x="1101628" y="313591"/>
                </a:lnTo>
                <a:lnTo>
                  <a:pt x="1075950" y="351587"/>
                </a:lnTo>
                <a:lnTo>
                  <a:pt x="1047500" y="387424"/>
                </a:lnTo>
                <a:lnTo>
                  <a:pt x="1016430" y="420950"/>
                </a:lnTo>
                <a:lnTo>
                  <a:pt x="982893" y="452013"/>
                </a:lnTo>
                <a:lnTo>
                  <a:pt x="947043" y="480459"/>
                </a:lnTo>
                <a:lnTo>
                  <a:pt x="909033" y="506136"/>
                </a:lnTo>
                <a:lnTo>
                  <a:pt x="869017" y="528891"/>
                </a:lnTo>
                <a:lnTo>
                  <a:pt x="827147" y="548572"/>
                </a:lnTo>
                <a:lnTo>
                  <a:pt x="783578" y="565025"/>
                </a:lnTo>
                <a:lnTo>
                  <a:pt x="827147" y="581479"/>
                </a:lnTo>
                <a:lnTo>
                  <a:pt x="869017" y="601160"/>
                </a:lnTo>
                <a:lnTo>
                  <a:pt x="909035" y="623915"/>
                </a:lnTo>
                <a:lnTo>
                  <a:pt x="947047" y="649592"/>
                </a:lnTo>
                <a:lnTo>
                  <a:pt x="982900" y="678038"/>
                </a:lnTo>
                <a:lnTo>
                  <a:pt x="1016441" y="709100"/>
                </a:lnTo>
                <a:lnTo>
                  <a:pt x="1047519" y="742627"/>
                </a:lnTo>
                <a:lnTo>
                  <a:pt x="1075978" y="778464"/>
                </a:lnTo>
                <a:lnTo>
                  <a:pt x="1101668" y="816460"/>
                </a:lnTo>
                <a:lnTo>
                  <a:pt x="1124434" y="856462"/>
                </a:lnTo>
                <a:lnTo>
                  <a:pt x="1144124" y="898317"/>
                </a:lnTo>
                <a:lnTo>
                  <a:pt x="1160584" y="941873"/>
                </a:lnTo>
                <a:lnTo>
                  <a:pt x="1173662" y="986977"/>
                </a:lnTo>
                <a:lnTo>
                  <a:pt x="1183205" y="1033477"/>
                </a:lnTo>
                <a:lnTo>
                  <a:pt x="1189060" y="1081219"/>
                </a:lnTo>
                <a:lnTo>
                  <a:pt x="1191074" y="1130051"/>
                </a:lnTo>
                <a:close/>
              </a:path>
            </a:pathLst>
          </a:custGeom>
          <a:solidFill>
            <a:srgbClr val="33858B"/>
          </a:solidFill>
        </p:spPr>
        <p:txBody>
          <a:bodyPr wrap="square" lIns="0" tIns="0" rIns="0" bIns="0" rtlCol="0"/>
          <a:lstStyle/>
          <a:p>
            <a:endParaRPr/>
          </a:p>
        </p:txBody>
      </p:sp>
      <p:sp>
        <p:nvSpPr>
          <p:cNvPr id="17" name="object 17"/>
          <p:cNvSpPr txBox="1">
            <a:spLocks noGrp="1"/>
          </p:cNvSpPr>
          <p:nvPr>
            <p:ph type="title"/>
          </p:nvPr>
        </p:nvSpPr>
        <p:spPr>
          <a:xfrm>
            <a:off x="3429000" y="495300"/>
            <a:ext cx="10744200" cy="940001"/>
          </a:xfrm>
          <a:prstGeom prst="rect">
            <a:avLst/>
          </a:prstGeom>
        </p:spPr>
        <p:txBody>
          <a:bodyPr vert="horz" wrap="square" lIns="0" tIns="16510" rIns="0" bIns="0" rtlCol="0">
            <a:spAutoFit/>
          </a:bodyPr>
          <a:lstStyle/>
          <a:p>
            <a:pPr marL="12700">
              <a:lnSpc>
                <a:spcPct val="100000"/>
              </a:lnSpc>
              <a:spcBef>
                <a:spcPts val="130"/>
              </a:spcBef>
            </a:pPr>
            <a:r>
              <a:rPr lang="en-IN" sz="6000" b="1" dirty="0"/>
              <a:t> Research Gap Identification</a:t>
            </a:r>
            <a:endParaRPr sz="6000" b="1" spc="400" dirty="0"/>
          </a:p>
        </p:txBody>
      </p:sp>
      <p:pic>
        <p:nvPicPr>
          <p:cNvPr id="2" name="Picture 1" descr="MAPS &amp; DIRECTIONS - Best Private University in Telangana ...">
            <a:extLst>
              <a:ext uri="{FF2B5EF4-FFF2-40B4-BE49-F238E27FC236}">
                <a16:creationId xmlns:a16="http://schemas.microsoft.com/office/drawing/2014/main" xmlns="" id="{096C54A6-926D-10D1-4350-36E4A5E2FE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25" y="-690563"/>
            <a:ext cx="3190875" cy="23717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B649D668-E8A0-470D-8792-365F72155BE4}"/>
              </a:ext>
            </a:extLst>
          </p:cNvPr>
          <p:cNvSpPr txBox="1"/>
          <p:nvPr/>
        </p:nvSpPr>
        <p:spPr>
          <a:xfrm>
            <a:off x="2133600" y="2118805"/>
            <a:ext cx="13716000" cy="6124754"/>
          </a:xfrm>
          <a:prstGeom prst="rect">
            <a:avLst/>
          </a:prstGeom>
          <a:noFill/>
        </p:spPr>
        <p:txBody>
          <a:bodyPr wrap="square">
            <a:spAutoFit/>
          </a:bodyPr>
          <a:lstStyle/>
          <a:p>
            <a:r>
              <a:rPr sz="2800" dirty="0">
                <a:latin typeface="+mn-lt"/>
              </a:rPr>
              <a:t>From the literature survey, the following gaps are relevant:</a:t>
            </a:r>
          </a:p>
          <a:p>
            <a:endParaRPr sz="2800" dirty="0">
              <a:latin typeface="+mn-lt"/>
            </a:endParaRPr>
          </a:p>
          <a:p>
            <a:r>
              <a:rPr sz="2800" dirty="0">
                <a:latin typeface="+mn-lt"/>
              </a:rPr>
              <a:t>Attrition models may provide risk scores without clear explanations that HR teams can interpret</a:t>
            </a:r>
            <a:r>
              <a:rPr sz="2800" dirty="0" smtClean="0">
                <a:latin typeface="+mn-lt"/>
              </a:rPr>
              <a:t>.</a:t>
            </a:r>
            <a:endParaRPr lang="en-GB" sz="2800" dirty="0" smtClean="0">
              <a:latin typeface="+mn-lt"/>
            </a:endParaRPr>
          </a:p>
          <a:p>
            <a:endParaRPr sz="2800" dirty="0">
              <a:latin typeface="+mn-lt"/>
            </a:endParaRPr>
          </a:p>
          <a:p>
            <a:r>
              <a:rPr sz="2800" dirty="0">
                <a:latin typeface="+mn-lt"/>
              </a:rPr>
              <a:t>High accuracy can hide poor detection of employees who leave, especially with imbalanced data</a:t>
            </a:r>
            <a:r>
              <a:rPr sz="2800" dirty="0" smtClean="0">
                <a:latin typeface="+mn-lt"/>
              </a:rPr>
              <a:t>.</a:t>
            </a:r>
            <a:endParaRPr lang="en-GB" sz="2800" dirty="0" smtClean="0">
              <a:latin typeface="+mn-lt"/>
            </a:endParaRPr>
          </a:p>
          <a:p>
            <a:endParaRPr sz="2800" dirty="0">
              <a:latin typeface="+mn-lt"/>
            </a:endParaRPr>
          </a:p>
          <a:p>
            <a:r>
              <a:rPr sz="2800" dirty="0">
                <a:latin typeface="+mn-lt"/>
              </a:rPr>
              <a:t>Feature importance can be confused with causation; predictions do not prove why an employee leaves</a:t>
            </a:r>
            <a:r>
              <a:rPr sz="2800" dirty="0" smtClean="0">
                <a:latin typeface="+mn-lt"/>
              </a:rPr>
              <a:t>.</a:t>
            </a:r>
            <a:endParaRPr lang="en-GB" sz="2800" dirty="0" smtClean="0">
              <a:latin typeface="+mn-lt"/>
            </a:endParaRPr>
          </a:p>
          <a:p>
            <a:endParaRPr sz="2800" dirty="0">
              <a:latin typeface="+mn-lt"/>
            </a:endParaRPr>
          </a:p>
          <a:p>
            <a:r>
              <a:rPr sz="2800" dirty="0">
                <a:latin typeface="+mn-lt"/>
              </a:rPr>
              <a:t>Models may not generalize across organizations, roles, or time periods without validation.</a:t>
            </a:r>
          </a:p>
          <a:p>
            <a:r>
              <a:rPr sz="2800" dirty="0">
                <a:latin typeface="+mn-lt"/>
              </a:rPr>
              <a:t>A responsible solution should combine model evaluation, </a:t>
            </a:r>
            <a:r>
              <a:rPr sz="2800" dirty="0" err="1">
                <a:latin typeface="+mn-lt"/>
              </a:rPr>
              <a:t>explainability</a:t>
            </a:r>
            <a:r>
              <a:rPr sz="2800" dirty="0">
                <a:latin typeface="+mn-lt"/>
              </a:rPr>
              <a:t>, privacy safeguards, and human oversight.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4D9299-F897-1315-1407-9594B54FB235}"/>
              </a:ext>
            </a:extLst>
          </p:cNvPr>
          <p:cNvSpPr>
            <a:spLocks noGrp="1"/>
          </p:cNvSpPr>
          <p:nvPr>
            <p:ph type="title"/>
          </p:nvPr>
        </p:nvSpPr>
        <p:spPr>
          <a:xfrm>
            <a:off x="5295379" y="952500"/>
            <a:ext cx="5105400" cy="923330"/>
          </a:xfrm>
        </p:spPr>
        <p:txBody>
          <a:bodyPr/>
          <a:lstStyle/>
          <a:p>
            <a:r>
              <a:rPr lang="en-IN" sz="6000" b="1" dirty="0"/>
              <a:t>Innovation</a:t>
            </a:r>
          </a:p>
        </p:txBody>
      </p:sp>
      <p:sp>
        <p:nvSpPr>
          <p:cNvPr id="3" name="Text Placeholder 2">
            <a:extLst>
              <a:ext uri="{FF2B5EF4-FFF2-40B4-BE49-F238E27FC236}">
                <a16:creationId xmlns:a16="http://schemas.microsoft.com/office/drawing/2014/main" xmlns="" id="{C4FACB72-365B-6579-46D2-AFB0BCA805EB}"/>
              </a:ext>
            </a:extLst>
          </p:cNvPr>
          <p:cNvSpPr>
            <a:spLocks noGrp="1"/>
          </p:cNvSpPr>
          <p:nvPr>
            <p:ph type="body" idx="1"/>
          </p:nvPr>
        </p:nvSpPr>
        <p:spPr>
          <a:xfrm>
            <a:off x="228600" y="2705100"/>
            <a:ext cx="12801600" cy="5601533"/>
          </a:xfrm>
        </p:spPr>
        <p:txBody>
          <a:bodyPr/>
          <a:lstStyle/>
          <a:p>
            <a:r>
              <a:rPr sz="2800" b="0" dirty="0">
                <a:latin typeface="+mn-lt"/>
              </a:rPr>
              <a:t>The proposed system introduces</a:t>
            </a:r>
            <a:r>
              <a:rPr sz="2800" b="0" dirty="0" smtClean="0">
                <a:latin typeface="+mn-lt"/>
              </a:rPr>
              <a:t>:</a:t>
            </a:r>
            <a:endParaRPr lang="en-GB" sz="2800" b="0" dirty="0" smtClean="0">
              <a:latin typeface="+mn-lt"/>
            </a:endParaRPr>
          </a:p>
          <a:p>
            <a:endParaRPr sz="2800" b="0" dirty="0">
              <a:latin typeface="+mn-lt"/>
            </a:endParaRPr>
          </a:p>
          <a:p>
            <a:r>
              <a:rPr sz="2800" b="0" dirty="0">
                <a:latin typeface="+mn-lt"/>
              </a:rPr>
              <a:t>A structured pipeline for predicting employee attrition risk from workforce data</a:t>
            </a:r>
            <a:r>
              <a:rPr sz="2800" b="0" dirty="0" smtClean="0">
                <a:latin typeface="+mn-lt"/>
              </a:rPr>
              <a:t>.</a:t>
            </a:r>
            <a:endParaRPr lang="en-GB" sz="2800" b="0" dirty="0" smtClean="0">
              <a:latin typeface="+mn-lt"/>
            </a:endParaRPr>
          </a:p>
          <a:p>
            <a:endParaRPr sz="2800" b="0" dirty="0">
              <a:latin typeface="+mn-lt"/>
            </a:endParaRPr>
          </a:p>
          <a:p>
            <a:r>
              <a:rPr sz="2800" b="0" dirty="0">
                <a:latin typeface="+mn-lt"/>
              </a:rPr>
              <a:t>Comparison of interpretable baseline and ensemble machine-learning models</a:t>
            </a:r>
            <a:r>
              <a:rPr sz="2800" b="0" dirty="0" smtClean="0">
                <a:latin typeface="+mn-lt"/>
              </a:rPr>
              <a:t>.</a:t>
            </a:r>
            <a:endParaRPr lang="en-GB" sz="2800" b="0" dirty="0" smtClean="0">
              <a:latin typeface="+mn-lt"/>
            </a:endParaRPr>
          </a:p>
          <a:p>
            <a:endParaRPr sz="2800" b="0" dirty="0">
              <a:latin typeface="+mn-lt"/>
            </a:endParaRPr>
          </a:p>
          <a:p>
            <a:r>
              <a:rPr sz="2800" b="0" dirty="0">
                <a:latin typeface="+mn-lt"/>
              </a:rPr>
              <a:t>Low, Moderate, and High risk bands based on stated probability thresholds</a:t>
            </a:r>
            <a:r>
              <a:rPr sz="2800" b="0" dirty="0" smtClean="0">
                <a:latin typeface="+mn-lt"/>
              </a:rPr>
              <a:t>.</a:t>
            </a:r>
            <a:endParaRPr lang="en-GB" sz="2800" b="0" dirty="0" smtClean="0">
              <a:latin typeface="+mn-lt"/>
            </a:endParaRPr>
          </a:p>
          <a:p>
            <a:endParaRPr sz="2800" b="0" dirty="0">
              <a:latin typeface="+mn-lt"/>
            </a:endParaRPr>
          </a:p>
          <a:p>
            <a:r>
              <a:rPr sz="2800" b="0" dirty="0">
                <a:latin typeface="+mn-lt"/>
              </a:rPr>
              <a:t>SHAP explanations or feature importance to show influential factors for each prediction.</a:t>
            </a:r>
          </a:p>
          <a:p>
            <a:r>
              <a:rPr sz="2800" b="0" dirty="0">
                <a:latin typeface="+mn-lt"/>
              </a:rPr>
              <a:t>A dashboard for reviewing risk estimates, model performance, and explanation summaries</a:t>
            </a:r>
            <a:r>
              <a:rPr sz="2800" b="0" dirty="0" smtClean="0">
                <a:latin typeface="+mn-lt"/>
              </a:rPr>
              <a:t>.</a:t>
            </a:r>
            <a:endParaRPr lang="en-GB" sz="2800" b="0" dirty="0" smtClean="0">
              <a:latin typeface="+mn-lt"/>
            </a:endParaRPr>
          </a:p>
          <a:p>
            <a:endParaRPr sz="2800" b="0" dirty="0">
              <a:latin typeface="+mn-lt"/>
            </a:endParaRPr>
          </a:p>
          <a:p>
            <a:r>
              <a:rPr sz="2800" b="0" dirty="0">
                <a:latin typeface="+mn-lt"/>
              </a:rPr>
              <a:t>Responsible-use guidance that keeps decisions under qualified human review.</a:t>
            </a:r>
          </a:p>
        </p:txBody>
      </p:sp>
      <p:pic>
        <p:nvPicPr>
          <p:cNvPr id="6" name="Picture 5">
            <a:extLst>
              <a:ext uri="{FF2B5EF4-FFF2-40B4-BE49-F238E27FC236}">
                <a16:creationId xmlns:a16="http://schemas.microsoft.com/office/drawing/2014/main" xmlns="" id="{E864A8FD-83D6-5CD0-E5C5-3D47FCD82747}"/>
              </a:ext>
            </a:extLst>
          </p:cNvPr>
          <p:cNvPicPr>
            <a:picLocks noChangeAspect="1"/>
          </p:cNvPicPr>
          <p:nvPr/>
        </p:nvPicPr>
        <p:blipFill>
          <a:blip r:embed="rId2"/>
          <a:stretch>
            <a:fillRect/>
          </a:stretch>
        </p:blipFill>
        <p:spPr>
          <a:xfrm>
            <a:off x="13030200" y="876300"/>
            <a:ext cx="4597598" cy="7467600"/>
          </a:xfrm>
          <a:prstGeom prst="rect">
            <a:avLst/>
          </a:prstGeom>
        </p:spPr>
      </p:pic>
      <p:pic>
        <p:nvPicPr>
          <p:cNvPr id="4" name="Picture 3" descr="MAPS &amp; DIRECTIONS - Best Private University in Telangana ...">
            <a:extLst>
              <a:ext uri="{FF2B5EF4-FFF2-40B4-BE49-F238E27FC236}">
                <a16:creationId xmlns:a16="http://schemas.microsoft.com/office/drawing/2014/main" xmlns="" id="{096C54A6-926D-10D1-4350-36E4A5E2F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
            <a:ext cx="3190875" cy="237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743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1F298D-358D-8A8A-CC3C-B98AFD869119}"/>
              </a:ext>
            </a:extLst>
          </p:cNvPr>
          <p:cNvSpPr>
            <a:spLocks noGrp="1"/>
          </p:cNvSpPr>
          <p:nvPr>
            <p:ph type="title"/>
          </p:nvPr>
        </p:nvSpPr>
        <p:spPr>
          <a:xfrm>
            <a:off x="5678186" y="652459"/>
            <a:ext cx="9148936" cy="923330"/>
          </a:xfrm>
        </p:spPr>
        <p:txBody>
          <a:bodyPr/>
          <a:lstStyle/>
          <a:p>
            <a:r>
              <a:rPr lang="en-IN" sz="6000" b="1" dirty="0"/>
              <a:t>Creativity</a:t>
            </a:r>
          </a:p>
        </p:txBody>
      </p:sp>
      <p:sp>
        <p:nvSpPr>
          <p:cNvPr id="3" name="Text Placeholder 2">
            <a:extLst>
              <a:ext uri="{FF2B5EF4-FFF2-40B4-BE49-F238E27FC236}">
                <a16:creationId xmlns:a16="http://schemas.microsoft.com/office/drawing/2014/main" xmlns="" id="{9D8425CC-4E3F-B0AE-1EA8-E4470AC41172}"/>
              </a:ext>
            </a:extLst>
          </p:cNvPr>
          <p:cNvSpPr>
            <a:spLocks noGrp="1"/>
          </p:cNvSpPr>
          <p:nvPr>
            <p:ph type="body" idx="1"/>
          </p:nvPr>
        </p:nvSpPr>
        <p:spPr>
          <a:xfrm>
            <a:off x="152400" y="2510790"/>
            <a:ext cx="16777623" cy="5663089"/>
          </a:xfrm>
        </p:spPr>
        <p:txBody>
          <a:bodyPr/>
          <a:lstStyle/>
          <a:p>
            <a:r>
              <a:rPr sz="2800" dirty="0">
                <a:latin typeface="+mn-lt"/>
              </a:rPr>
              <a:t>The project combines predictive analytics with explanations that HR users can understand.</a:t>
            </a:r>
          </a:p>
          <a:p>
            <a:endParaRPr sz="2800" dirty="0">
              <a:latin typeface="+mn-lt"/>
            </a:endParaRPr>
          </a:p>
          <a:p>
            <a:r>
              <a:rPr sz="2400" b="0" dirty="0">
                <a:latin typeface="+mn-lt"/>
              </a:rPr>
              <a:t>Key creative features include</a:t>
            </a:r>
            <a:r>
              <a:rPr sz="2400" b="0" dirty="0" smtClean="0">
                <a:latin typeface="+mn-lt"/>
              </a:rPr>
              <a:t>:</a:t>
            </a:r>
            <a:endParaRPr lang="en-GB" sz="2400" b="0" dirty="0" smtClean="0">
              <a:latin typeface="+mn-lt"/>
            </a:endParaRPr>
          </a:p>
          <a:p>
            <a:endParaRPr sz="2400" b="0" dirty="0">
              <a:latin typeface="+mn-lt"/>
            </a:endParaRPr>
          </a:p>
          <a:p>
            <a:r>
              <a:rPr sz="2400" b="0" dirty="0">
                <a:latin typeface="+mn-lt"/>
              </a:rPr>
              <a:t>Employee-level attrition probability estimates</a:t>
            </a:r>
            <a:r>
              <a:rPr sz="2400" b="0" dirty="0" smtClean="0">
                <a:latin typeface="+mn-lt"/>
              </a:rPr>
              <a:t>.</a:t>
            </a:r>
            <a:endParaRPr lang="en-GB" sz="2400" b="0" dirty="0">
              <a:latin typeface="+mn-lt"/>
            </a:endParaRPr>
          </a:p>
          <a:p>
            <a:endParaRPr sz="2400" b="0" dirty="0">
              <a:latin typeface="+mn-lt"/>
            </a:endParaRPr>
          </a:p>
          <a:p>
            <a:r>
              <a:rPr sz="2400" b="0" dirty="0">
                <a:latin typeface="+mn-lt"/>
              </a:rPr>
              <a:t>Risk-band classification into Low, Moderate, and High categories</a:t>
            </a:r>
            <a:r>
              <a:rPr sz="2400" b="0" dirty="0" smtClean="0">
                <a:latin typeface="+mn-lt"/>
              </a:rPr>
              <a:t>.</a:t>
            </a:r>
            <a:endParaRPr lang="en-GB" sz="2400" b="0" dirty="0" smtClean="0">
              <a:latin typeface="+mn-lt"/>
            </a:endParaRPr>
          </a:p>
          <a:p>
            <a:endParaRPr sz="2400" b="0" dirty="0">
              <a:latin typeface="+mn-lt"/>
            </a:endParaRPr>
          </a:p>
          <a:p>
            <a:r>
              <a:rPr sz="2400" b="0" dirty="0">
                <a:latin typeface="+mn-lt"/>
              </a:rPr>
              <a:t>Visual summaries of important workforce indicators</a:t>
            </a:r>
            <a:r>
              <a:rPr sz="2400" b="0" dirty="0" smtClean="0">
                <a:latin typeface="+mn-lt"/>
              </a:rPr>
              <a:t>.</a:t>
            </a:r>
            <a:endParaRPr lang="en-GB" sz="2400" b="0" dirty="0" smtClean="0">
              <a:latin typeface="+mn-lt"/>
            </a:endParaRPr>
          </a:p>
          <a:p>
            <a:endParaRPr sz="2400" b="0" dirty="0">
              <a:latin typeface="+mn-lt"/>
            </a:endParaRPr>
          </a:p>
          <a:p>
            <a:r>
              <a:rPr sz="2400" b="0" dirty="0">
                <a:latin typeface="+mn-lt"/>
              </a:rPr>
              <a:t>Local explanations for individual predictions where supported by the method</a:t>
            </a:r>
            <a:r>
              <a:rPr sz="2400" b="0" dirty="0" smtClean="0">
                <a:latin typeface="+mn-lt"/>
              </a:rPr>
              <a:t>.</a:t>
            </a:r>
            <a:endParaRPr lang="en-GB" sz="2400" b="0" dirty="0" smtClean="0">
              <a:latin typeface="+mn-lt"/>
            </a:endParaRPr>
          </a:p>
          <a:p>
            <a:endParaRPr sz="2400" b="0" dirty="0">
              <a:latin typeface="+mn-lt"/>
            </a:endParaRPr>
          </a:p>
          <a:p>
            <a:r>
              <a:rPr sz="2400" b="0" dirty="0">
                <a:latin typeface="+mn-lt"/>
              </a:rPr>
              <a:t>Aggregate analysis to identify patterns without treating correlations as causes</a:t>
            </a:r>
            <a:r>
              <a:rPr sz="2400" b="0" dirty="0" smtClean="0">
                <a:latin typeface="+mn-lt"/>
              </a:rPr>
              <a:t>.</a:t>
            </a:r>
            <a:endParaRPr lang="en-GB" sz="2400" b="0" dirty="0" smtClean="0">
              <a:latin typeface="+mn-lt"/>
            </a:endParaRPr>
          </a:p>
          <a:p>
            <a:endParaRPr sz="2400" b="0" dirty="0">
              <a:latin typeface="+mn-lt"/>
            </a:endParaRPr>
          </a:p>
          <a:p>
            <a:r>
              <a:rPr sz="2400" b="0" dirty="0">
                <a:latin typeface="+mn-lt"/>
              </a:rPr>
              <a:t>A human-</a:t>
            </a:r>
            <a:r>
              <a:rPr sz="2400" b="0" dirty="0" err="1">
                <a:latin typeface="+mn-lt"/>
              </a:rPr>
              <a:t>centred</a:t>
            </a:r>
            <a:r>
              <a:rPr sz="2400" b="0" dirty="0">
                <a:latin typeface="+mn-lt"/>
              </a:rPr>
              <a:t> workflow focused on supportive retention actions, not automatic employment decisions.</a:t>
            </a:r>
          </a:p>
        </p:txBody>
      </p:sp>
      <p:pic>
        <p:nvPicPr>
          <p:cNvPr id="6" name="Picture 5">
            <a:extLst>
              <a:ext uri="{FF2B5EF4-FFF2-40B4-BE49-F238E27FC236}">
                <a16:creationId xmlns:a16="http://schemas.microsoft.com/office/drawing/2014/main" xmlns="" id="{901478DA-9B40-22F8-6F75-BDB60F59599A}"/>
              </a:ext>
            </a:extLst>
          </p:cNvPr>
          <p:cNvPicPr>
            <a:picLocks noChangeAspect="1"/>
          </p:cNvPicPr>
          <p:nvPr/>
        </p:nvPicPr>
        <p:blipFill>
          <a:blip r:embed="rId2"/>
          <a:stretch>
            <a:fillRect/>
          </a:stretch>
        </p:blipFill>
        <p:spPr>
          <a:xfrm>
            <a:off x="14935200" y="6667500"/>
            <a:ext cx="3089910" cy="3089910"/>
          </a:xfrm>
          <a:prstGeom prst="rect">
            <a:avLst/>
          </a:prstGeom>
        </p:spPr>
      </p:pic>
      <p:pic>
        <p:nvPicPr>
          <p:cNvPr id="4" name="Picture 3" descr="MAPS &amp; DIRECTIONS - Best Private University in Telangana ...">
            <a:extLst>
              <a:ext uri="{FF2B5EF4-FFF2-40B4-BE49-F238E27FC236}">
                <a16:creationId xmlns:a16="http://schemas.microsoft.com/office/drawing/2014/main" xmlns="" id="{096C54A6-926D-10D1-4350-36E4A5E2F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03" y="-723900"/>
            <a:ext cx="3190875" cy="237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8828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19DAD2-7CDA-B111-09FB-50434C239B9E}"/>
              </a:ext>
            </a:extLst>
          </p:cNvPr>
          <p:cNvSpPr>
            <a:spLocks noGrp="1"/>
          </p:cNvSpPr>
          <p:nvPr>
            <p:ph type="title"/>
          </p:nvPr>
        </p:nvSpPr>
        <p:spPr>
          <a:xfrm>
            <a:off x="5257800" y="645317"/>
            <a:ext cx="11093322" cy="923330"/>
          </a:xfrm>
        </p:spPr>
        <p:txBody>
          <a:bodyPr/>
          <a:lstStyle/>
          <a:p>
            <a:r>
              <a:rPr lang="en-IN" sz="6000" b="1" dirty="0"/>
              <a:t>Novelty</a:t>
            </a:r>
          </a:p>
        </p:txBody>
      </p:sp>
      <p:sp>
        <p:nvSpPr>
          <p:cNvPr id="3" name="Text Placeholder 2">
            <a:extLst>
              <a:ext uri="{FF2B5EF4-FFF2-40B4-BE49-F238E27FC236}">
                <a16:creationId xmlns:a16="http://schemas.microsoft.com/office/drawing/2014/main" xmlns="" id="{9F3A78E7-39A4-EB9F-09CC-270DFB1B147E}"/>
              </a:ext>
            </a:extLst>
          </p:cNvPr>
          <p:cNvSpPr>
            <a:spLocks noGrp="1"/>
          </p:cNvSpPr>
          <p:nvPr>
            <p:ph type="body" idx="1"/>
          </p:nvPr>
        </p:nvSpPr>
        <p:spPr>
          <a:xfrm>
            <a:off x="2041461" y="2476500"/>
            <a:ext cx="14478000" cy="5601533"/>
          </a:xfrm>
        </p:spPr>
        <p:txBody>
          <a:bodyPr/>
          <a:lstStyle/>
          <a:p>
            <a:r>
              <a:rPr sz="2800" b="0" dirty="0">
                <a:latin typeface="+mn-lt"/>
              </a:rPr>
              <a:t>The project integrates</a:t>
            </a:r>
            <a:r>
              <a:rPr sz="2800" b="0" dirty="0" smtClean="0">
                <a:latin typeface="+mn-lt"/>
              </a:rPr>
              <a:t>:</a:t>
            </a:r>
            <a:endParaRPr lang="en-GB" sz="2800" b="0" dirty="0" smtClean="0">
              <a:latin typeface="+mn-lt"/>
            </a:endParaRPr>
          </a:p>
          <a:p>
            <a:pPr marL="457200" indent="-457200">
              <a:buFont typeface="Arial" panose="020B0604020202020204" pitchFamily="34" charset="0"/>
              <a:buChar char="•"/>
            </a:pPr>
            <a:endParaRPr sz="2800" b="0" dirty="0">
              <a:latin typeface="+mn-lt"/>
            </a:endParaRPr>
          </a:p>
          <a:p>
            <a:r>
              <a:rPr sz="2800" b="0" dirty="0">
                <a:latin typeface="+mn-lt"/>
              </a:rPr>
              <a:t>Predictive </a:t>
            </a:r>
            <a:r>
              <a:rPr sz="2800" b="0" dirty="0" err="1">
                <a:latin typeface="+mn-lt"/>
              </a:rPr>
              <a:t>modelling</a:t>
            </a:r>
            <a:r>
              <a:rPr sz="2800" b="0" dirty="0">
                <a:latin typeface="+mn-lt"/>
              </a:rPr>
              <a:t> with interpretable baselines and ensemble models</a:t>
            </a:r>
            <a:r>
              <a:rPr sz="2800" b="0" dirty="0" smtClean="0">
                <a:latin typeface="+mn-lt"/>
              </a:rPr>
              <a:t>.</a:t>
            </a:r>
            <a:endParaRPr lang="en-GB" sz="2800" b="0" dirty="0" smtClean="0">
              <a:latin typeface="+mn-lt"/>
            </a:endParaRPr>
          </a:p>
          <a:p>
            <a:endParaRPr sz="2800" b="0" dirty="0">
              <a:latin typeface="+mn-lt"/>
            </a:endParaRPr>
          </a:p>
          <a:p>
            <a:r>
              <a:rPr sz="2800" b="0" dirty="0">
                <a:latin typeface="+mn-lt"/>
              </a:rPr>
              <a:t>Explainable AI methods such as SHAP to summarize feature contributions</a:t>
            </a:r>
            <a:r>
              <a:rPr sz="2800" b="0" dirty="0" smtClean="0">
                <a:latin typeface="+mn-lt"/>
              </a:rPr>
              <a:t>.</a:t>
            </a:r>
            <a:endParaRPr lang="en-GB" sz="2800" b="0" dirty="0" smtClean="0">
              <a:latin typeface="+mn-lt"/>
            </a:endParaRPr>
          </a:p>
          <a:p>
            <a:endParaRPr sz="2800" b="0" dirty="0">
              <a:latin typeface="+mn-lt"/>
            </a:endParaRPr>
          </a:p>
          <a:p>
            <a:r>
              <a:rPr sz="2800" b="0" dirty="0">
                <a:latin typeface="+mn-lt"/>
              </a:rPr>
              <a:t>Risk-band classification to make model output easier to review</a:t>
            </a:r>
            <a:r>
              <a:rPr sz="2800" b="0" dirty="0" smtClean="0">
                <a:latin typeface="+mn-lt"/>
              </a:rPr>
              <a:t>.</a:t>
            </a:r>
            <a:endParaRPr lang="en-GB" sz="2800" b="0" dirty="0" smtClean="0">
              <a:latin typeface="+mn-lt"/>
            </a:endParaRPr>
          </a:p>
          <a:p>
            <a:endParaRPr sz="2800" b="0" dirty="0">
              <a:latin typeface="+mn-lt"/>
            </a:endParaRPr>
          </a:p>
          <a:p>
            <a:r>
              <a:rPr sz="2800" b="0" dirty="0">
                <a:latin typeface="+mn-lt"/>
              </a:rPr>
              <a:t>Attrition-focused precision, recall, F1-score, ROC-AUC, and confusion-matrix reporting</a:t>
            </a:r>
            <a:r>
              <a:rPr sz="2800" b="0" dirty="0" smtClean="0">
                <a:latin typeface="+mn-lt"/>
              </a:rPr>
              <a:t>.</a:t>
            </a:r>
            <a:endParaRPr lang="en-GB" sz="2800" b="0" dirty="0" smtClean="0">
              <a:latin typeface="+mn-lt"/>
            </a:endParaRPr>
          </a:p>
          <a:p>
            <a:endParaRPr sz="2800" b="0" dirty="0">
              <a:latin typeface="+mn-lt"/>
            </a:endParaRPr>
          </a:p>
          <a:p>
            <a:r>
              <a:rPr sz="2800" b="0" dirty="0">
                <a:latin typeface="+mn-lt"/>
              </a:rPr>
              <a:t>Fairness, privacy, and model-monitoring considerations within the proposed workflow</a:t>
            </a:r>
            <a:r>
              <a:rPr sz="2800" b="0" dirty="0" smtClean="0">
                <a:latin typeface="+mn-lt"/>
              </a:rPr>
              <a:t>.</a:t>
            </a:r>
            <a:endParaRPr lang="en-GB" sz="2800" b="0" dirty="0" smtClean="0">
              <a:latin typeface="+mn-lt"/>
            </a:endParaRPr>
          </a:p>
          <a:p>
            <a:endParaRPr sz="2800" b="0" dirty="0">
              <a:latin typeface="+mn-lt"/>
            </a:endParaRPr>
          </a:p>
          <a:p>
            <a:r>
              <a:rPr sz="2800" b="0" dirty="0">
                <a:latin typeface="+mn-lt"/>
              </a:rPr>
              <a:t>A scalable design that must be revalidated for each dataset and organizational context.</a:t>
            </a:r>
          </a:p>
        </p:txBody>
      </p:sp>
      <p:pic>
        <p:nvPicPr>
          <p:cNvPr id="4" name="Picture 3" descr="MAPS &amp; DIRECTIONS - Best Private University in Telangana ...">
            <a:extLst>
              <a:ext uri="{FF2B5EF4-FFF2-40B4-BE49-F238E27FC236}">
                <a16:creationId xmlns:a16="http://schemas.microsoft.com/office/drawing/2014/main" xmlns="" id="{096C54A6-926D-10D1-4350-36E4A5E2FE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440" y="-540546"/>
            <a:ext cx="3190875" cy="237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9760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C03DF8-DE79-F093-8E29-F90FD58A9CBB}"/>
              </a:ext>
            </a:extLst>
          </p:cNvPr>
          <p:cNvSpPr>
            <a:spLocks noGrp="1"/>
          </p:cNvSpPr>
          <p:nvPr>
            <p:ph type="title"/>
          </p:nvPr>
        </p:nvSpPr>
        <p:spPr>
          <a:xfrm>
            <a:off x="8991600" y="448449"/>
            <a:ext cx="10012870" cy="923330"/>
          </a:xfrm>
        </p:spPr>
        <p:txBody>
          <a:bodyPr/>
          <a:lstStyle/>
          <a:p>
            <a:r>
              <a:rPr lang="en-IN" sz="6000" b="1" dirty="0"/>
              <a:t>Feasibility</a:t>
            </a:r>
          </a:p>
        </p:txBody>
      </p:sp>
      <p:sp>
        <p:nvSpPr>
          <p:cNvPr id="3" name="Text Placeholder 2">
            <a:extLst>
              <a:ext uri="{FF2B5EF4-FFF2-40B4-BE49-F238E27FC236}">
                <a16:creationId xmlns:a16="http://schemas.microsoft.com/office/drawing/2014/main" xmlns="" id="{9C91C13C-BEF8-C5B2-7134-37C2817938D8}"/>
              </a:ext>
            </a:extLst>
          </p:cNvPr>
          <p:cNvSpPr>
            <a:spLocks noGrp="1"/>
          </p:cNvSpPr>
          <p:nvPr>
            <p:ph type="body" idx="1"/>
          </p:nvPr>
        </p:nvSpPr>
        <p:spPr>
          <a:xfrm>
            <a:off x="5486400" y="1943100"/>
            <a:ext cx="12496800" cy="6463308"/>
          </a:xfrm>
        </p:spPr>
        <p:txBody>
          <a:bodyPr/>
          <a:lstStyle/>
          <a:p>
            <a:r>
              <a:rPr sz="2000" b="0" dirty="0">
                <a:latin typeface="+mn-lt"/>
              </a:rPr>
              <a:t>Technical Feasibility</a:t>
            </a:r>
            <a:r>
              <a:rPr sz="2000" b="0" dirty="0" smtClean="0">
                <a:latin typeface="+mn-lt"/>
              </a:rPr>
              <a:t>:</a:t>
            </a:r>
            <a:endParaRPr lang="en-GB" sz="2000" b="0" dirty="0" smtClean="0">
              <a:latin typeface="+mn-lt"/>
            </a:endParaRPr>
          </a:p>
          <a:p>
            <a:endParaRPr sz="2000" b="0" dirty="0">
              <a:latin typeface="+mn-lt"/>
            </a:endParaRPr>
          </a:p>
          <a:p>
            <a:r>
              <a:rPr sz="2000" b="0" dirty="0">
                <a:latin typeface="+mn-lt"/>
              </a:rPr>
              <a:t>Python, pandas, </a:t>
            </a:r>
            <a:r>
              <a:rPr sz="2000" b="0" dirty="0" err="1">
                <a:latin typeface="+mn-lt"/>
              </a:rPr>
              <a:t>scikit</a:t>
            </a:r>
            <a:r>
              <a:rPr sz="2000" b="0" dirty="0">
                <a:latin typeface="+mn-lt"/>
              </a:rPr>
              <a:t>-learn, SHAP, and </a:t>
            </a:r>
            <a:r>
              <a:rPr sz="2000" b="0" dirty="0" err="1">
                <a:latin typeface="+mn-lt"/>
              </a:rPr>
              <a:t>Streamlit</a:t>
            </a:r>
            <a:r>
              <a:rPr sz="2000" b="0" dirty="0">
                <a:latin typeface="+mn-lt"/>
              </a:rPr>
              <a:t> can support the proposed pipeline</a:t>
            </a:r>
            <a:r>
              <a:rPr sz="2000" b="0" dirty="0" smtClean="0">
                <a:latin typeface="+mn-lt"/>
              </a:rPr>
              <a:t>.</a:t>
            </a:r>
            <a:endParaRPr lang="en-GB" sz="2000" b="0" dirty="0" smtClean="0">
              <a:latin typeface="+mn-lt"/>
            </a:endParaRPr>
          </a:p>
          <a:p>
            <a:endParaRPr sz="2000" b="0" dirty="0">
              <a:latin typeface="+mn-lt"/>
            </a:endParaRPr>
          </a:p>
          <a:p>
            <a:r>
              <a:rPr sz="2000" b="0" dirty="0">
                <a:latin typeface="+mn-lt"/>
              </a:rPr>
              <a:t>A public HR analytics dataset may be used for demonstration, subject to its </a:t>
            </a:r>
            <a:r>
              <a:rPr sz="2000" b="0" dirty="0" err="1">
                <a:latin typeface="+mn-lt"/>
              </a:rPr>
              <a:t>licence</a:t>
            </a:r>
            <a:r>
              <a:rPr sz="2000" b="0" dirty="0">
                <a:latin typeface="+mn-lt"/>
              </a:rPr>
              <a:t> and limitations</a:t>
            </a:r>
            <a:r>
              <a:rPr sz="2000" b="0" dirty="0" smtClean="0">
                <a:latin typeface="+mn-lt"/>
              </a:rPr>
              <a:t>.</a:t>
            </a:r>
            <a:endParaRPr lang="en-GB" sz="2000" b="0" dirty="0" smtClean="0">
              <a:latin typeface="+mn-lt"/>
            </a:endParaRPr>
          </a:p>
          <a:p>
            <a:endParaRPr sz="2000" b="0" dirty="0">
              <a:latin typeface="+mn-lt"/>
            </a:endParaRPr>
          </a:p>
          <a:p>
            <a:r>
              <a:rPr sz="2000" b="0" dirty="0">
                <a:latin typeface="+mn-lt"/>
              </a:rPr>
              <a:t>Most baseline models can run on a standard computer; hardware needs depend on dataset size.</a:t>
            </a:r>
          </a:p>
          <a:p>
            <a:endParaRPr sz="2000" b="0" dirty="0">
              <a:latin typeface="+mn-lt"/>
            </a:endParaRPr>
          </a:p>
          <a:p>
            <a:r>
              <a:rPr sz="2000" b="0" dirty="0">
                <a:latin typeface="+mn-lt"/>
              </a:rPr>
              <a:t>Economic Feasibility:</a:t>
            </a:r>
          </a:p>
          <a:p>
            <a:r>
              <a:rPr sz="2000" b="0" dirty="0">
                <a:latin typeface="+mn-lt"/>
              </a:rPr>
              <a:t>Open-source libraries and tools reduce software costs</a:t>
            </a:r>
            <a:r>
              <a:rPr sz="2000" b="0" dirty="0" smtClean="0">
                <a:latin typeface="+mn-lt"/>
              </a:rPr>
              <a:t>.</a:t>
            </a:r>
            <a:endParaRPr lang="en-GB" sz="2000" b="0" dirty="0" smtClean="0">
              <a:latin typeface="+mn-lt"/>
            </a:endParaRPr>
          </a:p>
          <a:p>
            <a:endParaRPr sz="2000" b="0" dirty="0">
              <a:latin typeface="+mn-lt"/>
            </a:endParaRPr>
          </a:p>
          <a:p>
            <a:r>
              <a:rPr sz="2000" b="0" dirty="0">
                <a:latin typeface="+mn-lt"/>
              </a:rPr>
              <a:t>Development can begin with a small, well-documented dataset</a:t>
            </a:r>
            <a:r>
              <a:rPr sz="2000" b="0" dirty="0" smtClean="0">
                <a:latin typeface="+mn-lt"/>
              </a:rPr>
              <a:t>.</a:t>
            </a:r>
            <a:endParaRPr lang="en-GB" sz="2000" b="0" dirty="0" smtClean="0">
              <a:latin typeface="+mn-lt"/>
            </a:endParaRPr>
          </a:p>
          <a:p>
            <a:endParaRPr sz="2000" b="0" dirty="0">
              <a:latin typeface="+mn-lt"/>
            </a:endParaRPr>
          </a:p>
          <a:p>
            <a:r>
              <a:rPr sz="2000" b="0" dirty="0">
                <a:latin typeface="+mn-lt"/>
              </a:rPr>
              <a:t>Maintenance includes data governance, validation, and periodic model review.</a:t>
            </a:r>
          </a:p>
          <a:p>
            <a:endParaRPr sz="2000" b="0" dirty="0">
              <a:latin typeface="+mn-lt"/>
            </a:endParaRPr>
          </a:p>
          <a:p>
            <a:r>
              <a:rPr sz="2000" b="0" dirty="0">
                <a:latin typeface="+mn-lt"/>
              </a:rPr>
              <a:t>Operational Feasibility:</a:t>
            </a:r>
          </a:p>
          <a:p>
            <a:r>
              <a:rPr sz="2000" b="0" dirty="0">
                <a:latin typeface="+mn-lt"/>
              </a:rPr>
              <a:t>A dashboard can present risk bands and explanation summaries to authorized HR users</a:t>
            </a:r>
            <a:r>
              <a:rPr sz="2000" b="0" dirty="0" smtClean="0">
                <a:latin typeface="+mn-lt"/>
              </a:rPr>
              <a:t>.</a:t>
            </a:r>
            <a:endParaRPr lang="en-GB" sz="2000" b="0" dirty="0" smtClean="0">
              <a:latin typeface="+mn-lt"/>
            </a:endParaRPr>
          </a:p>
          <a:p>
            <a:endParaRPr sz="2000" b="0" dirty="0">
              <a:latin typeface="+mn-lt"/>
            </a:endParaRPr>
          </a:p>
          <a:p>
            <a:r>
              <a:rPr sz="2000" b="0" dirty="0">
                <a:latin typeface="+mn-lt"/>
              </a:rPr>
              <a:t>Predictions should support investigation and retention planning, not automatic decisions</a:t>
            </a:r>
            <a:r>
              <a:rPr sz="2000" b="0" dirty="0" smtClean="0">
                <a:latin typeface="+mn-lt"/>
              </a:rPr>
              <a:t>.</a:t>
            </a:r>
            <a:endParaRPr lang="en-GB" sz="2000" b="0" dirty="0" smtClean="0">
              <a:latin typeface="+mn-lt"/>
            </a:endParaRPr>
          </a:p>
          <a:p>
            <a:endParaRPr sz="2000" b="0" dirty="0">
              <a:latin typeface="+mn-lt"/>
            </a:endParaRPr>
          </a:p>
          <a:p>
            <a:r>
              <a:rPr sz="2000" b="0" dirty="0">
                <a:latin typeface="+mn-lt"/>
              </a:rPr>
              <a:t>Access controls, privacy protections, fairness checks, and human review are essential.</a:t>
            </a:r>
          </a:p>
        </p:txBody>
      </p:sp>
      <p:pic>
        <p:nvPicPr>
          <p:cNvPr id="6" name="Picture 5">
            <a:extLst>
              <a:ext uri="{FF2B5EF4-FFF2-40B4-BE49-F238E27FC236}">
                <a16:creationId xmlns:a16="http://schemas.microsoft.com/office/drawing/2014/main" xmlns="" id="{3BB521B6-9C3A-F9F2-1BD7-2041F4B3959B}"/>
              </a:ext>
            </a:extLst>
          </p:cNvPr>
          <p:cNvPicPr>
            <a:picLocks noChangeAspect="1"/>
          </p:cNvPicPr>
          <p:nvPr/>
        </p:nvPicPr>
        <p:blipFill>
          <a:blip r:embed="rId2"/>
          <a:stretch>
            <a:fillRect/>
          </a:stretch>
        </p:blipFill>
        <p:spPr>
          <a:xfrm>
            <a:off x="609600" y="1790700"/>
            <a:ext cx="4343400" cy="7284720"/>
          </a:xfrm>
          <a:prstGeom prst="rect">
            <a:avLst/>
          </a:prstGeom>
        </p:spPr>
      </p:pic>
      <p:pic>
        <p:nvPicPr>
          <p:cNvPr id="4" name="Picture 3" descr="MAPS &amp; DIRECTIONS - Best Private University in Telangana ...">
            <a:extLst>
              <a:ext uri="{FF2B5EF4-FFF2-40B4-BE49-F238E27FC236}">
                <a16:creationId xmlns:a16="http://schemas.microsoft.com/office/drawing/2014/main" xmlns="" id="{096C54A6-926D-10D1-4350-36E4A5E2F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581025"/>
            <a:ext cx="3190875" cy="237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8360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94BD8E-D0B3-FB2D-04F0-8FCEE0D65141}"/>
              </a:ext>
            </a:extLst>
          </p:cNvPr>
          <p:cNvSpPr>
            <a:spLocks noGrp="1"/>
          </p:cNvSpPr>
          <p:nvPr>
            <p:ph type="title"/>
          </p:nvPr>
        </p:nvSpPr>
        <p:spPr>
          <a:xfrm>
            <a:off x="5562600" y="330994"/>
            <a:ext cx="11910544" cy="923330"/>
          </a:xfrm>
        </p:spPr>
        <p:txBody>
          <a:bodyPr/>
          <a:lstStyle/>
          <a:p>
            <a:r>
              <a:rPr lang="en-IN" sz="6000" b="1" dirty="0"/>
              <a:t>Project Plan</a:t>
            </a:r>
          </a:p>
        </p:txBody>
      </p:sp>
      <p:graphicFrame>
        <p:nvGraphicFramePr>
          <p:cNvPr id="4" name="Table 3">
            <a:extLst>
              <a:ext uri="{FF2B5EF4-FFF2-40B4-BE49-F238E27FC236}">
                <a16:creationId xmlns:a16="http://schemas.microsoft.com/office/drawing/2014/main" xmlns="" id="{230B7618-BCDE-541A-AABE-F71A11A6F8D1}"/>
              </a:ext>
            </a:extLst>
          </p:cNvPr>
          <p:cNvGraphicFramePr>
            <a:graphicFrameLocks noGrp="1"/>
          </p:cNvGraphicFramePr>
          <p:nvPr>
            <p:extLst>
              <p:ext uri="{D42A27DB-BD31-4B8C-83A1-F6EECF244321}">
                <p14:modId xmlns:p14="http://schemas.microsoft.com/office/powerpoint/2010/main" val="1685882626"/>
              </p:ext>
            </p:extLst>
          </p:nvPr>
        </p:nvGraphicFramePr>
        <p:xfrm>
          <a:off x="1752600" y="1562100"/>
          <a:ext cx="16324005" cy="7925292"/>
        </p:xfrm>
        <a:graphic>
          <a:graphicData uri="http://schemas.openxmlformats.org/drawingml/2006/table">
            <a:tbl>
              <a:tblPr/>
              <a:tblGrid>
                <a:gridCol w="5483845">
                  <a:extLst>
                    <a:ext uri="{9D8B030D-6E8A-4147-A177-3AD203B41FA5}">
                      <a16:colId xmlns:a16="http://schemas.microsoft.com/office/drawing/2014/main" xmlns="" val="2896293792"/>
                    </a:ext>
                  </a:extLst>
                </a:gridCol>
                <a:gridCol w="5483845">
                  <a:extLst>
                    <a:ext uri="{9D8B030D-6E8A-4147-A177-3AD203B41FA5}">
                      <a16:colId xmlns:a16="http://schemas.microsoft.com/office/drawing/2014/main" xmlns="" val="2387829491"/>
                    </a:ext>
                  </a:extLst>
                </a:gridCol>
                <a:gridCol w="5356315">
                  <a:extLst>
                    <a:ext uri="{9D8B030D-6E8A-4147-A177-3AD203B41FA5}">
                      <a16:colId xmlns:a16="http://schemas.microsoft.com/office/drawing/2014/main" xmlns="" val="871146346"/>
                    </a:ext>
                  </a:extLst>
                </a:gridCol>
              </a:tblGrid>
              <a:tr h="674493">
                <a:tc>
                  <a:txBody>
                    <a:bodyPr/>
                    <a:lstStyle/>
                    <a:p>
                      <a:r>
                        <a:rPr sz="2800" dirty="0"/>
                        <a:t>Phase</a:t>
                      </a:r>
                    </a:p>
                  </a:txBody>
                  <a:tcPr anchor="ctr">
                    <a:lnL>
                      <a:noFill/>
                    </a:lnL>
                    <a:lnR>
                      <a:noFill/>
                    </a:lnR>
                    <a:lnT>
                      <a:noFill/>
                    </a:lnT>
                    <a:lnB>
                      <a:noFill/>
                    </a:lnB>
                    <a:noFill/>
                  </a:tcPr>
                </a:tc>
                <a:tc>
                  <a:txBody>
                    <a:bodyPr/>
                    <a:lstStyle/>
                    <a:p>
                      <a:r>
                        <a:rPr sz="2800" dirty="0"/>
                        <a:t>Activity</a:t>
                      </a:r>
                    </a:p>
                  </a:txBody>
                  <a:tcPr anchor="ctr">
                    <a:lnL>
                      <a:noFill/>
                    </a:lnL>
                    <a:lnR>
                      <a:noFill/>
                    </a:lnR>
                    <a:lnT>
                      <a:noFill/>
                    </a:lnT>
                    <a:lnB>
                      <a:noFill/>
                    </a:lnB>
                    <a:noFill/>
                  </a:tcPr>
                </a:tc>
                <a:tc>
                  <a:txBody>
                    <a:bodyPr/>
                    <a:lstStyle/>
                    <a:p>
                      <a:r>
                        <a:rPr sz="1800" dirty="0"/>
                        <a:t>Description</a:t>
                      </a:r>
                    </a:p>
                  </a:txBody>
                  <a:tcPr anchor="ctr">
                    <a:lnL>
                      <a:noFill/>
                    </a:lnL>
                    <a:lnR>
                      <a:noFill/>
                    </a:lnR>
                    <a:lnT>
                      <a:noFill/>
                    </a:lnT>
                    <a:lnB>
                      <a:noFill/>
                    </a:lnB>
                    <a:noFill/>
                  </a:tcPr>
                </a:tc>
                <a:extLst>
                  <a:ext uri="{0D108BD9-81ED-4DB2-BD59-A6C34878D82A}">
                    <a16:rowId xmlns:a16="http://schemas.microsoft.com/office/drawing/2014/main" xmlns="" val="3235554675"/>
                  </a:ext>
                </a:extLst>
              </a:tr>
              <a:tr h="674493">
                <a:tc>
                  <a:txBody>
                    <a:bodyPr/>
                    <a:lstStyle/>
                    <a:p>
                      <a:r>
                        <a:rPr sz="2800" dirty="0"/>
                        <a:t>Phase 1</a:t>
                      </a:r>
                    </a:p>
                  </a:txBody>
                  <a:tcPr anchor="ctr">
                    <a:lnL>
                      <a:noFill/>
                    </a:lnL>
                    <a:lnR>
                      <a:noFill/>
                    </a:lnR>
                    <a:lnT>
                      <a:noFill/>
                    </a:lnT>
                    <a:lnB>
                      <a:noFill/>
                    </a:lnB>
                    <a:noFill/>
                  </a:tcPr>
                </a:tc>
                <a:tc>
                  <a:txBody>
                    <a:bodyPr/>
                    <a:lstStyle/>
                    <a:p>
                      <a:r>
                        <a:rPr sz="2800" dirty="0"/>
                        <a:t>Requirement Analysis</a:t>
                      </a:r>
                    </a:p>
                  </a:txBody>
                  <a:tcPr anchor="ctr">
                    <a:lnL>
                      <a:noFill/>
                    </a:lnL>
                    <a:lnR>
                      <a:noFill/>
                    </a:lnR>
                    <a:lnT>
                      <a:noFill/>
                    </a:lnT>
                    <a:lnB>
                      <a:noFill/>
                    </a:lnB>
                    <a:noFill/>
                  </a:tcPr>
                </a:tc>
                <a:tc>
                  <a:txBody>
                    <a:bodyPr/>
                    <a:lstStyle/>
                    <a:p>
                      <a:r>
                        <a:rPr sz="1800" dirty="0"/>
                        <a:t>Define objectives, scope, ethical boundaries, and authorized users.</a:t>
                      </a:r>
                    </a:p>
                  </a:txBody>
                  <a:tcPr anchor="ctr">
                    <a:lnL>
                      <a:noFill/>
                    </a:lnL>
                    <a:lnR>
                      <a:noFill/>
                    </a:lnR>
                    <a:lnT>
                      <a:noFill/>
                    </a:lnT>
                    <a:lnB>
                      <a:noFill/>
                    </a:lnB>
                    <a:noFill/>
                  </a:tcPr>
                </a:tc>
                <a:extLst>
                  <a:ext uri="{0D108BD9-81ED-4DB2-BD59-A6C34878D82A}">
                    <a16:rowId xmlns:a16="http://schemas.microsoft.com/office/drawing/2014/main" xmlns="" val="811031372"/>
                  </a:ext>
                </a:extLst>
              </a:tr>
              <a:tr h="674493">
                <a:tc>
                  <a:txBody>
                    <a:bodyPr/>
                    <a:lstStyle/>
                    <a:p>
                      <a:r>
                        <a:rPr sz="2800" dirty="0"/>
                        <a:t>Phase 2</a:t>
                      </a:r>
                    </a:p>
                  </a:txBody>
                  <a:tcPr anchor="ctr">
                    <a:lnL>
                      <a:noFill/>
                    </a:lnL>
                    <a:lnR>
                      <a:noFill/>
                    </a:lnR>
                    <a:lnT>
                      <a:noFill/>
                    </a:lnT>
                    <a:lnB>
                      <a:noFill/>
                    </a:lnB>
                    <a:noFill/>
                  </a:tcPr>
                </a:tc>
                <a:tc>
                  <a:txBody>
                    <a:bodyPr/>
                    <a:lstStyle/>
                    <a:p>
                      <a:r>
                        <a:rPr sz="2800" dirty="0"/>
                        <a:t>Literature Survey</a:t>
                      </a:r>
                    </a:p>
                  </a:txBody>
                  <a:tcPr anchor="ctr">
                    <a:lnL>
                      <a:noFill/>
                    </a:lnL>
                    <a:lnR>
                      <a:noFill/>
                    </a:lnR>
                    <a:lnT>
                      <a:noFill/>
                    </a:lnT>
                    <a:lnB>
                      <a:noFill/>
                    </a:lnB>
                    <a:noFill/>
                  </a:tcPr>
                </a:tc>
                <a:tc>
                  <a:txBody>
                    <a:bodyPr/>
                    <a:lstStyle/>
                    <a:p>
                      <a:r>
                        <a:rPr sz="1800" dirty="0"/>
                        <a:t>Review attrition prediction, explainable AI, evaluation, and fairness research.</a:t>
                      </a:r>
                    </a:p>
                  </a:txBody>
                  <a:tcPr anchor="ctr">
                    <a:lnL>
                      <a:noFill/>
                    </a:lnL>
                    <a:lnR>
                      <a:noFill/>
                    </a:lnR>
                    <a:lnT>
                      <a:noFill/>
                    </a:lnT>
                    <a:lnB>
                      <a:noFill/>
                    </a:lnB>
                    <a:noFill/>
                  </a:tcPr>
                </a:tc>
                <a:extLst>
                  <a:ext uri="{0D108BD9-81ED-4DB2-BD59-A6C34878D82A}">
                    <a16:rowId xmlns:a16="http://schemas.microsoft.com/office/drawing/2014/main" xmlns="" val="2863294718"/>
                  </a:ext>
                </a:extLst>
              </a:tr>
              <a:tr h="674493">
                <a:tc>
                  <a:txBody>
                    <a:bodyPr/>
                    <a:lstStyle/>
                    <a:p>
                      <a:r>
                        <a:rPr sz="2800" dirty="0"/>
                        <a:t>Phase 3</a:t>
                      </a:r>
                    </a:p>
                  </a:txBody>
                  <a:tcPr anchor="ctr">
                    <a:lnL>
                      <a:noFill/>
                    </a:lnL>
                    <a:lnR>
                      <a:noFill/>
                    </a:lnR>
                    <a:lnT>
                      <a:noFill/>
                    </a:lnT>
                    <a:lnB>
                      <a:noFill/>
                    </a:lnB>
                    <a:noFill/>
                  </a:tcPr>
                </a:tc>
                <a:tc>
                  <a:txBody>
                    <a:bodyPr/>
                    <a:lstStyle/>
                    <a:p>
                      <a:r>
                        <a:rPr sz="2800" dirty="0"/>
                        <a:t>Dataset Collection</a:t>
                      </a:r>
                    </a:p>
                  </a:txBody>
                  <a:tcPr anchor="ctr">
                    <a:lnL>
                      <a:noFill/>
                    </a:lnL>
                    <a:lnR>
                      <a:noFill/>
                    </a:lnR>
                    <a:lnT>
                      <a:noFill/>
                    </a:lnT>
                    <a:lnB>
                      <a:noFill/>
                    </a:lnB>
                    <a:noFill/>
                  </a:tcPr>
                </a:tc>
                <a:tc>
                  <a:txBody>
                    <a:bodyPr/>
                    <a:lstStyle/>
                    <a:p>
                      <a:r>
                        <a:rPr sz="1800" dirty="0"/>
                        <a:t>Select an appropriately licensed HR dataset and document its limitations.</a:t>
                      </a:r>
                    </a:p>
                  </a:txBody>
                  <a:tcPr anchor="ctr">
                    <a:lnL>
                      <a:noFill/>
                    </a:lnL>
                    <a:lnR>
                      <a:noFill/>
                    </a:lnR>
                    <a:lnT>
                      <a:noFill/>
                    </a:lnT>
                    <a:lnB>
                      <a:noFill/>
                    </a:lnB>
                    <a:noFill/>
                  </a:tcPr>
                </a:tc>
                <a:extLst>
                  <a:ext uri="{0D108BD9-81ED-4DB2-BD59-A6C34878D82A}">
                    <a16:rowId xmlns:a16="http://schemas.microsoft.com/office/drawing/2014/main" xmlns="" val="199194729"/>
                  </a:ext>
                </a:extLst>
              </a:tr>
              <a:tr h="674493">
                <a:tc>
                  <a:txBody>
                    <a:bodyPr/>
                    <a:lstStyle/>
                    <a:p>
                      <a:r>
                        <a:rPr sz="2800" dirty="0"/>
                        <a:t>Phase 4</a:t>
                      </a:r>
                    </a:p>
                  </a:txBody>
                  <a:tcPr anchor="ctr">
                    <a:lnL>
                      <a:noFill/>
                    </a:lnL>
                    <a:lnR>
                      <a:noFill/>
                    </a:lnR>
                    <a:lnT>
                      <a:noFill/>
                    </a:lnT>
                    <a:lnB>
                      <a:noFill/>
                    </a:lnB>
                    <a:noFill/>
                  </a:tcPr>
                </a:tc>
                <a:tc>
                  <a:txBody>
                    <a:bodyPr/>
                    <a:lstStyle/>
                    <a:p>
                      <a:r>
                        <a:rPr sz="2800" dirty="0"/>
                        <a:t>Data Preparation</a:t>
                      </a:r>
                    </a:p>
                  </a:txBody>
                  <a:tcPr anchor="ctr">
                    <a:lnL>
                      <a:noFill/>
                    </a:lnL>
                    <a:lnR>
                      <a:noFill/>
                    </a:lnR>
                    <a:lnT>
                      <a:noFill/>
                    </a:lnT>
                    <a:lnB>
                      <a:noFill/>
                    </a:lnB>
                    <a:noFill/>
                  </a:tcPr>
                </a:tc>
                <a:tc>
                  <a:txBody>
                    <a:bodyPr/>
                    <a:lstStyle/>
                    <a:p>
                      <a:r>
                        <a:rPr sz="1800" dirty="0"/>
                        <a:t>Inspect missing values, encode features, check leakage, and split data appropriately.</a:t>
                      </a:r>
                    </a:p>
                  </a:txBody>
                  <a:tcPr anchor="ctr">
                    <a:lnL>
                      <a:noFill/>
                    </a:lnL>
                    <a:lnR>
                      <a:noFill/>
                    </a:lnR>
                    <a:lnT>
                      <a:noFill/>
                    </a:lnT>
                    <a:lnB>
                      <a:noFill/>
                    </a:lnB>
                    <a:noFill/>
                  </a:tcPr>
                </a:tc>
                <a:extLst>
                  <a:ext uri="{0D108BD9-81ED-4DB2-BD59-A6C34878D82A}">
                    <a16:rowId xmlns:a16="http://schemas.microsoft.com/office/drawing/2014/main" xmlns="" val="4138296151"/>
                  </a:ext>
                </a:extLst>
              </a:tr>
              <a:tr h="674493">
                <a:tc>
                  <a:txBody>
                    <a:bodyPr/>
                    <a:lstStyle/>
                    <a:p>
                      <a:r>
                        <a:rPr sz="2800" dirty="0"/>
                        <a:t>Phase 5</a:t>
                      </a:r>
                    </a:p>
                  </a:txBody>
                  <a:tcPr anchor="ctr">
                    <a:lnL>
                      <a:noFill/>
                    </a:lnL>
                    <a:lnR>
                      <a:noFill/>
                    </a:lnR>
                    <a:lnT>
                      <a:noFill/>
                    </a:lnT>
                    <a:lnB>
                      <a:noFill/>
                    </a:lnB>
                    <a:noFill/>
                  </a:tcPr>
                </a:tc>
                <a:tc>
                  <a:txBody>
                    <a:bodyPr/>
                    <a:lstStyle/>
                    <a:p>
                      <a:r>
                        <a:rPr sz="2800" dirty="0"/>
                        <a:t>Exploratory Analysis</a:t>
                      </a:r>
                    </a:p>
                  </a:txBody>
                  <a:tcPr anchor="ctr">
                    <a:lnL>
                      <a:noFill/>
                    </a:lnL>
                    <a:lnR>
                      <a:noFill/>
                    </a:lnR>
                    <a:lnT>
                      <a:noFill/>
                    </a:lnT>
                    <a:lnB>
                      <a:noFill/>
                    </a:lnB>
                    <a:noFill/>
                  </a:tcPr>
                </a:tc>
                <a:tc>
                  <a:txBody>
                    <a:bodyPr/>
                    <a:lstStyle/>
                    <a:p>
                      <a:r>
                        <a:rPr sz="1800" dirty="0"/>
                        <a:t>Analyze attrition balance and relationships among available workforce features.</a:t>
                      </a:r>
                    </a:p>
                  </a:txBody>
                  <a:tcPr anchor="ctr">
                    <a:lnL>
                      <a:noFill/>
                    </a:lnL>
                    <a:lnR>
                      <a:noFill/>
                    </a:lnR>
                    <a:lnT>
                      <a:noFill/>
                    </a:lnT>
                    <a:lnB>
                      <a:noFill/>
                    </a:lnB>
                    <a:noFill/>
                  </a:tcPr>
                </a:tc>
                <a:extLst>
                  <a:ext uri="{0D108BD9-81ED-4DB2-BD59-A6C34878D82A}">
                    <a16:rowId xmlns:a16="http://schemas.microsoft.com/office/drawing/2014/main" xmlns="" val="448560493"/>
                  </a:ext>
                </a:extLst>
              </a:tr>
              <a:tr h="674493">
                <a:tc>
                  <a:txBody>
                    <a:bodyPr/>
                    <a:lstStyle/>
                    <a:p>
                      <a:r>
                        <a:rPr sz="2800" dirty="0"/>
                        <a:t>Phase 6</a:t>
                      </a:r>
                    </a:p>
                  </a:txBody>
                  <a:tcPr anchor="ctr">
                    <a:lnL>
                      <a:noFill/>
                    </a:lnL>
                    <a:lnR>
                      <a:noFill/>
                    </a:lnR>
                    <a:lnT>
                      <a:noFill/>
                    </a:lnT>
                    <a:lnB>
                      <a:noFill/>
                    </a:lnB>
                    <a:noFill/>
                  </a:tcPr>
                </a:tc>
                <a:tc>
                  <a:txBody>
                    <a:bodyPr/>
                    <a:lstStyle/>
                    <a:p>
                      <a:r>
                        <a:rPr sz="2800" dirty="0"/>
                        <a:t>Model Development</a:t>
                      </a:r>
                    </a:p>
                  </a:txBody>
                  <a:tcPr anchor="ctr">
                    <a:lnL>
                      <a:noFill/>
                    </a:lnL>
                    <a:lnR>
                      <a:noFill/>
                    </a:lnR>
                    <a:lnT>
                      <a:noFill/>
                    </a:lnT>
                    <a:lnB>
                      <a:noFill/>
                    </a:lnB>
                    <a:noFill/>
                  </a:tcPr>
                </a:tc>
                <a:tc>
                  <a:txBody>
                    <a:bodyPr/>
                    <a:lstStyle/>
                    <a:p>
                      <a:r>
                        <a:rPr sz="1800" dirty="0"/>
                        <a:t>Train Logistic Regression and compare tree-based ensemble models.</a:t>
                      </a:r>
                    </a:p>
                  </a:txBody>
                  <a:tcPr anchor="ctr">
                    <a:lnL>
                      <a:noFill/>
                    </a:lnL>
                    <a:lnR>
                      <a:noFill/>
                    </a:lnR>
                    <a:lnT>
                      <a:noFill/>
                    </a:lnT>
                    <a:lnB>
                      <a:noFill/>
                    </a:lnB>
                    <a:noFill/>
                  </a:tcPr>
                </a:tc>
                <a:extLst>
                  <a:ext uri="{0D108BD9-81ED-4DB2-BD59-A6C34878D82A}">
                    <a16:rowId xmlns:a16="http://schemas.microsoft.com/office/drawing/2014/main" xmlns="" val="994552435"/>
                  </a:ext>
                </a:extLst>
              </a:tr>
              <a:tr h="674493">
                <a:tc>
                  <a:txBody>
                    <a:bodyPr/>
                    <a:lstStyle/>
                    <a:p>
                      <a:r>
                        <a:rPr sz="2800" dirty="0"/>
                        <a:t>Phase 7</a:t>
                      </a:r>
                    </a:p>
                  </a:txBody>
                  <a:tcPr anchor="ctr">
                    <a:lnL>
                      <a:noFill/>
                    </a:lnL>
                    <a:lnR>
                      <a:noFill/>
                    </a:lnR>
                    <a:lnT>
                      <a:noFill/>
                    </a:lnT>
                    <a:lnB>
                      <a:noFill/>
                    </a:lnB>
                    <a:noFill/>
                  </a:tcPr>
                </a:tc>
                <a:tc>
                  <a:txBody>
                    <a:bodyPr/>
                    <a:lstStyle/>
                    <a:p>
                      <a:r>
                        <a:rPr sz="2800" dirty="0" err="1"/>
                        <a:t>Explainability</a:t>
                      </a:r>
                      <a:endParaRPr sz="2800" dirty="0"/>
                    </a:p>
                  </a:txBody>
                  <a:tcPr anchor="ctr">
                    <a:lnL>
                      <a:noFill/>
                    </a:lnL>
                    <a:lnR>
                      <a:noFill/>
                    </a:lnR>
                    <a:lnT>
                      <a:noFill/>
                    </a:lnT>
                    <a:lnB>
                      <a:noFill/>
                    </a:lnB>
                    <a:noFill/>
                  </a:tcPr>
                </a:tc>
                <a:tc>
                  <a:txBody>
                    <a:bodyPr/>
                    <a:lstStyle/>
                    <a:p>
                      <a:r>
                        <a:rPr sz="1800" dirty="0"/>
                        <a:t>Use feature importance and SHAP explanations where appropriate.</a:t>
                      </a:r>
                    </a:p>
                  </a:txBody>
                  <a:tcPr anchor="ctr">
                    <a:lnL>
                      <a:noFill/>
                    </a:lnL>
                    <a:lnR>
                      <a:noFill/>
                    </a:lnR>
                    <a:lnT>
                      <a:noFill/>
                    </a:lnT>
                    <a:lnB>
                      <a:noFill/>
                    </a:lnB>
                    <a:noFill/>
                  </a:tcPr>
                </a:tc>
                <a:extLst>
                  <a:ext uri="{0D108BD9-81ED-4DB2-BD59-A6C34878D82A}">
                    <a16:rowId xmlns:a16="http://schemas.microsoft.com/office/drawing/2014/main" xmlns="" val="426346190"/>
                  </a:ext>
                </a:extLst>
              </a:tr>
              <a:tr h="674493">
                <a:tc>
                  <a:txBody>
                    <a:bodyPr/>
                    <a:lstStyle/>
                    <a:p>
                      <a:r>
                        <a:rPr sz="2800" dirty="0"/>
                        <a:t>Phase 8</a:t>
                      </a:r>
                    </a:p>
                  </a:txBody>
                  <a:tcPr anchor="ctr">
                    <a:lnL>
                      <a:noFill/>
                    </a:lnL>
                    <a:lnR>
                      <a:noFill/>
                    </a:lnR>
                    <a:lnT>
                      <a:noFill/>
                    </a:lnT>
                    <a:lnB>
                      <a:noFill/>
                    </a:lnB>
                    <a:noFill/>
                  </a:tcPr>
                </a:tc>
                <a:tc>
                  <a:txBody>
                    <a:bodyPr/>
                    <a:lstStyle/>
                    <a:p>
                      <a:r>
                        <a:rPr sz="2800" dirty="0"/>
                        <a:t>Evaluation</a:t>
                      </a:r>
                    </a:p>
                  </a:txBody>
                  <a:tcPr anchor="ctr">
                    <a:lnL>
                      <a:noFill/>
                    </a:lnL>
                    <a:lnR>
                      <a:noFill/>
                    </a:lnR>
                    <a:lnT>
                      <a:noFill/>
                    </a:lnT>
                    <a:lnB>
                      <a:noFill/>
                    </a:lnB>
                    <a:noFill/>
                  </a:tcPr>
                </a:tc>
                <a:tc>
                  <a:txBody>
                    <a:bodyPr/>
                    <a:lstStyle/>
                    <a:p>
                      <a:r>
                        <a:rPr sz="1800" dirty="0"/>
                        <a:t>Report Precision, Recall, F1-score, ROC-AUC, and confusion matrix.</a:t>
                      </a:r>
                    </a:p>
                  </a:txBody>
                  <a:tcPr anchor="ctr">
                    <a:lnL>
                      <a:noFill/>
                    </a:lnL>
                    <a:lnR>
                      <a:noFill/>
                    </a:lnR>
                    <a:lnT>
                      <a:noFill/>
                    </a:lnT>
                    <a:lnB>
                      <a:noFill/>
                    </a:lnB>
                    <a:noFill/>
                  </a:tcPr>
                </a:tc>
                <a:extLst>
                  <a:ext uri="{0D108BD9-81ED-4DB2-BD59-A6C34878D82A}">
                    <a16:rowId xmlns:a16="http://schemas.microsoft.com/office/drawing/2014/main" xmlns="" val="2550217739"/>
                  </a:ext>
                </a:extLst>
              </a:tr>
              <a:tr h="674493">
                <a:tc>
                  <a:txBody>
                    <a:bodyPr/>
                    <a:lstStyle/>
                    <a:p>
                      <a:r>
                        <a:rPr sz="2800" dirty="0"/>
                        <a:t>Phase 9</a:t>
                      </a:r>
                    </a:p>
                  </a:txBody>
                  <a:tcPr anchor="ctr">
                    <a:lnL>
                      <a:noFill/>
                    </a:lnL>
                    <a:lnR>
                      <a:noFill/>
                    </a:lnR>
                    <a:lnT>
                      <a:noFill/>
                    </a:lnT>
                    <a:lnB>
                      <a:noFill/>
                    </a:lnB>
                    <a:noFill/>
                  </a:tcPr>
                </a:tc>
                <a:tc>
                  <a:txBody>
                    <a:bodyPr/>
                    <a:lstStyle/>
                    <a:p>
                      <a:r>
                        <a:rPr sz="2800" dirty="0"/>
                        <a:t>Dashboard &amp; Validation</a:t>
                      </a:r>
                    </a:p>
                  </a:txBody>
                  <a:tcPr anchor="ctr">
                    <a:lnL>
                      <a:noFill/>
                    </a:lnL>
                    <a:lnR>
                      <a:noFill/>
                    </a:lnR>
                    <a:lnT>
                      <a:noFill/>
                    </a:lnT>
                    <a:lnB>
                      <a:noFill/>
                    </a:lnB>
                    <a:noFill/>
                  </a:tcPr>
                </a:tc>
                <a:tc>
                  <a:txBody>
                    <a:bodyPr/>
                    <a:lstStyle/>
                    <a:p>
                      <a:r>
                        <a:rPr sz="1800" dirty="0"/>
                        <a:t>Display risk bands and explanations; test edge cases and limitations.</a:t>
                      </a:r>
                    </a:p>
                  </a:txBody>
                  <a:tcPr anchor="ctr">
                    <a:lnL>
                      <a:noFill/>
                    </a:lnL>
                    <a:lnR>
                      <a:noFill/>
                    </a:lnR>
                    <a:lnT>
                      <a:noFill/>
                    </a:lnT>
                    <a:lnB>
                      <a:noFill/>
                    </a:lnB>
                    <a:noFill/>
                  </a:tcPr>
                </a:tc>
                <a:extLst>
                  <a:ext uri="{0D108BD9-81ED-4DB2-BD59-A6C34878D82A}">
                    <a16:rowId xmlns:a16="http://schemas.microsoft.com/office/drawing/2014/main" xmlns="" val="733220356"/>
                  </a:ext>
                </a:extLst>
              </a:tr>
              <a:tr h="1180362">
                <a:tc>
                  <a:txBody>
                    <a:bodyPr/>
                    <a:lstStyle/>
                    <a:p>
                      <a:r>
                        <a:rPr sz="2800" dirty="0"/>
                        <a:t>Phase 10</a:t>
                      </a:r>
                    </a:p>
                  </a:txBody>
                  <a:tcPr anchor="ctr">
                    <a:lnL>
                      <a:noFill/>
                    </a:lnL>
                    <a:lnR>
                      <a:noFill/>
                    </a:lnR>
                    <a:lnT>
                      <a:noFill/>
                    </a:lnT>
                    <a:lnB>
                      <a:noFill/>
                    </a:lnB>
                    <a:noFill/>
                  </a:tcPr>
                </a:tc>
                <a:tc>
                  <a:txBody>
                    <a:bodyPr/>
                    <a:lstStyle/>
                    <a:p>
                      <a:r>
                        <a:rPr sz="2800" dirty="0"/>
                        <a:t>Documentation</a:t>
                      </a:r>
                    </a:p>
                  </a:txBody>
                  <a:tcPr anchor="ctr">
                    <a:lnL>
                      <a:noFill/>
                    </a:lnL>
                    <a:lnR>
                      <a:noFill/>
                    </a:lnR>
                    <a:lnT>
                      <a:noFill/>
                    </a:lnT>
                    <a:lnB>
                      <a:noFill/>
                    </a:lnB>
                    <a:noFill/>
                  </a:tcPr>
                </a:tc>
                <a:tc>
                  <a:txBody>
                    <a:bodyPr/>
                    <a:lstStyle/>
                    <a:p>
                      <a:r>
                        <a:rPr sz="1800" dirty="0"/>
                        <a:t>Document results, data privacy, fairness checks, and future improvements.</a:t>
                      </a:r>
                    </a:p>
                  </a:txBody>
                  <a:tcPr anchor="ctr">
                    <a:lnL>
                      <a:noFill/>
                    </a:lnL>
                    <a:lnR>
                      <a:noFill/>
                    </a:lnR>
                    <a:lnT>
                      <a:noFill/>
                    </a:lnT>
                    <a:lnB>
                      <a:noFill/>
                    </a:lnB>
                    <a:noFill/>
                  </a:tcPr>
                </a:tc>
                <a:extLst>
                  <a:ext uri="{0D108BD9-81ED-4DB2-BD59-A6C34878D82A}">
                    <a16:rowId xmlns:a16="http://schemas.microsoft.com/office/drawing/2014/main" xmlns="" val="3392448791"/>
                  </a:ext>
                </a:extLst>
              </a:tr>
            </a:tbl>
          </a:graphicData>
        </a:graphic>
      </p:graphicFrame>
      <p:pic>
        <p:nvPicPr>
          <p:cNvPr id="3" name="Picture 2" descr="MAPS &amp; DIRECTIONS - Best Private University in Telangana ...">
            <a:extLst>
              <a:ext uri="{FF2B5EF4-FFF2-40B4-BE49-F238E27FC236}">
                <a16:creationId xmlns:a16="http://schemas.microsoft.com/office/drawing/2014/main" xmlns="" id="{096C54A6-926D-10D1-4350-36E4A5E2FE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395" y="-571500"/>
            <a:ext cx="3190875" cy="237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358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5206965" y="7318496"/>
            <a:ext cx="3081020" cy="2962275"/>
          </a:xfrm>
          <a:custGeom>
            <a:avLst/>
            <a:gdLst/>
            <a:ahLst/>
            <a:cxnLst/>
            <a:rect l="l" t="t" r="r" b="b"/>
            <a:pathLst>
              <a:path w="3081019" h="2962275">
                <a:moveTo>
                  <a:pt x="2441490" y="240974"/>
                </a:moveTo>
                <a:lnTo>
                  <a:pt x="1511628" y="240974"/>
                </a:lnTo>
                <a:lnTo>
                  <a:pt x="1539940" y="203901"/>
                </a:lnTo>
                <a:lnTo>
                  <a:pt x="1570472" y="169918"/>
                </a:lnTo>
                <a:lnTo>
                  <a:pt x="1603032" y="139023"/>
                </a:lnTo>
                <a:lnTo>
                  <a:pt x="1637426" y="111219"/>
                </a:lnTo>
                <a:lnTo>
                  <a:pt x="1673462" y="86503"/>
                </a:lnTo>
                <a:lnTo>
                  <a:pt x="1710946" y="64877"/>
                </a:lnTo>
                <a:lnTo>
                  <a:pt x="1749686" y="46341"/>
                </a:lnTo>
                <a:lnTo>
                  <a:pt x="1789487" y="30894"/>
                </a:lnTo>
                <a:lnTo>
                  <a:pt x="1830158" y="18536"/>
                </a:lnTo>
                <a:lnTo>
                  <a:pt x="1871504" y="9268"/>
                </a:lnTo>
                <a:lnTo>
                  <a:pt x="1913333" y="3089"/>
                </a:lnTo>
                <a:lnTo>
                  <a:pt x="1955452" y="0"/>
                </a:lnTo>
                <a:lnTo>
                  <a:pt x="1997667" y="0"/>
                </a:lnTo>
                <a:lnTo>
                  <a:pt x="2039786" y="3089"/>
                </a:lnTo>
                <a:lnTo>
                  <a:pt x="2081615" y="9268"/>
                </a:lnTo>
                <a:lnTo>
                  <a:pt x="2122961" y="18536"/>
                </a:lnTo>
                <a:lnTo>
                  <a:pt x="2163632" y="30894"/>
                </a:lnTo>
                <a:lnTo>
                  <a:pt x="2203433" y="46341"/>
                </a:lnTo>
                <a:lnTo>
                  <a:pt x="2242172" y="64877"/>
                </a:lnTo>
                <a:lnTo>
                  <a:pt x="2279657" y="86503"/>
                </a:lnTo>
                <a:lnTo>
                  <a:pt x="2315692" y="111219"/>
                </a:lnTo>
                <a:lnTo>
                  <a:pt x="2350087" y="139023"/>
                </a:lnTo>
                <a:lnTo>
                  <a:pt x="2382647" y="169918"/>
                </a:lnTo>
                <a:lnTo>
                  <a:pt x="2413179" y="203901"/>
                </a:lnTo>
                <a:lnTo>
                  <a:pt x="2441490" y="240974"/>
                </a:lnTo>
                <a:close/>
              </a:path>
              <a:path w="3081019" h="2962275">
                <a:moveTo>
                  <a:pt x="3081010" y="2961896"/>
                </a:moveTo>
                <a:lnTo>
                  <a:pt x="263329" y="2961896"/>
                </a:lnTo>
                <a:lnTo>
                  <a:pt x="254475" y="2946566"/>
                </a:lnTo>
                <a:lnTo>
                  <a:pt x="236088" y="2908557"/>
                </a:lnTo>
                <a:lnTo>
                  <a:pt x="220517" y="2869253"/>
                </a:lnTo>
                <a:lnTo>
                  <a:pt x="207860" y="2828819"/>
                </a:lnTo>
                <a:lnTo>
                  <a:pt x="198212" y="2787421"/>
                </a:lnTo>
                <a:lnTo>
                  <a:pt x="191671" y="2745227"/>
                </a:lnTo>
                <a:lnTo>
                  <a:pt x="188333" y="2702401"/>
                </a:lnTo>
                <a:lnTo>
                  <a:pt x="188295" y="2659110"/>
                </a:lnTo>
                <a:lnTo>
                  <a:pt x="191652" y="2615520"/>
                </a:lnTo>
                <a:lnTo>
                  <a:pt x="198502" y="2571797"/>
                </a:lnTo>
                <a:lnTo>
                  <a:pt x="208942" y="2528107"/>
                </a:lnTo>
                <a:lnTo>
                  <a:pt x="223067" y="2484616"/>
                </a:lnTo>
                <a:lnTo>
                  <a:pt x="240974" y="2441490"/>
                </a:lnTo>
                <a:lnTo>
                  <a:pt x="203901" y="2413091"/>
                </a:lnTo>
                <a:lnTo>
                  <a:pt x="169918" y="2382486"/>
                </a:lnTo>
                <a:lnTo>
                  <a:pt x="139023" y="2349866"/>
                </a:lnTo>
                <a:lnTo>
                  <a:pt x="111219" y="2315424"/>
                </a:lnTo>
                <a:lnTo>
                  <a:pt x="86503" y="2279353"/>
                </a:lnTo>
                <a:lnTo>
                  <a:pt x="64877" y="2241843"/>
                </a:lnTo>
                <a:lnTo>
                  <a:pt x="46341" y="2203089"/>
                </a:lnTo>
                <a:lnTo>
                  <a:pt x="30894" y="2163280"/>
                </a:lnTo>
                <a:lnTo>
                  <a:pt x="18536" y="2122611"/>
                </a:lnTo>
                <a:lnTo>
                  <a:pt x="9268" y="2081273"/>
                </a:lnTo>
                <a:lnTo>
                  <a:pt x="3089" y="2039458"/>
                </a:lnTo>
                <a:lnTo>
                  <a:pt x="0" y="1997359"/>
                </a:lnTo>
                <a:lnTo>
                  <a:pt x="0" y="1955167"/>
                </a:lnTo>
                <a:lnTo>
                  <a:pt x="3089" y="1913076"/>
                </a:lnTo>
                <a:lnTo>
                  <a:pt x="9268" y="1871276"/>
                </a:lnTo>
                <a:lnTo>
                  <a:pt x="18536" y="1829961"/>
                </a:lnTo>
                <a:lnTo>
                  <a:pt x="30894" y="1789322"/>
                </a:lnTo>
                <a:lnTo>
                  <a:pt x="46341" y="1749552"/>
                </a:lnTo>
                <a:lnTo>
                  <a:pt x="64877" y="1710842"/>
                </a:lnTo>
                <a:lnTo>
                  <a:pt x="86503" y="1673386"/>
                </a:lnTo>
                <a:lnTo>
                  <a:pt x="111219" y="1637375"/>
                </a:lnTo>
                <a:lnTo>
                  <a:pt x="139023" y="1603002"/>
                </a:lnTo>
                <a:lnTo>
                  <a:pt x="169918" y="1570458"/>
                </a:lnTo>
                <a:lnTo>
                  <a:pt x="203901" y="1539936"/>
                </a:lnTo>
                <a:lnTo>
                  <a:pt x="240974" y="1511628"/>
                </a:lnTo>
                <a:lnTo>
                  <a:pt x="223067" y="1468502"/>
                </a:lnTo>
                <a:lnTo>
                  <a:pt x="208942" y="1425012"/>
                </a:lnTo>
                <a:lnTo>
                  <a:pt x="198502" y="1381322"/>
                </a:lnTo>
                <a:lnTo>
                  <a:pt x="191652" y="1337599"/>
                </a:lnTo>
                <a:lnTo>
                  <a:pt x="188295" y="1294009"/>
                </a:lnTo>
                <a:lnTo>
                  <a:pt x="188333" y="1250718"/>
                </a:lnTo>
                <a:lnTo>
                  <a:pt x="191671" y="1207892"/>
                </a:lnTo>
                <a:lnTo>
                  <a:pt x="198212" y="1165697"/>
                </a:lnTo>
                <a:lnTo>
                  <a:pt x="207860" y="1124300"/>
                </a:lnTo>
                <a:lnTo>
                  <a:pt x="220517" y="1083866"/>
                </a:lnTo>
                <a:lnTo>
                  <a:pt x="236088" y="1044562"/>
                </a:lnTo>
                <a:lnTo>
                  <a:pt x="254475" y="1006553"/>
                </a:lnTo>
                <a:lnTo>
                  <a:pt x="275583" y="970006"/>
                </a:lnTo>
                <a:lnTo>
                  <a:pt x="299314" y="935087"/>
                </a:lnTo>
                <a:lnTo>
                  <a:pt x="325573" y="901961"/>
                </a:lnTo>
                <a:lnTo>
                  <a:pt x="354262" y="870795"/>
                </a:lnTo>
                <a:lnTo>
                  <a:pt x="385285" y="841756"/>
                </a:lnTo>
                <a:lnTo>
                  <a:pt x="418545" y="815008"/>
                </a:lnTo>
                <a:lnTo>
                  <a:pt x="453946" y="790719"/>
                </a:lnTo>
                <a:lnTo>
                  <a:pt x="491392" y="769054"/>
                </a:lnTo>
                <a:lnTo>
                  <a:pt x="530785" y="750179"/>
                </a:lnTo>
                <a:lnTo>
                  <a:pt x="572030" y="734261"/>
                </a:lnTo>
                <a:lnTo>
                  <a:pt x="615029" y="721465"/>
                </a:lnTo>
                <a:lnTo>
                  <a:pt x="659687" y="711958"/>
                </a:lnTo>
                <a:lnTo>
                  <a:pt x="705906" y="705906"/>
                </a:lnTo>
                <a:lnTo>
                  <a:pt x="711958" y="659687"/>
                </a:lnTo>
                <a:lnTo>
                  <a:pt x="721465" y="615029"/>
                </a:lnTo>
                <a:lnTo>
                  <a:pt x="734261" y="572030"/>
                </a:lnTo>
                <a:lnTo>
                  <a:pt x="750179" y="530785"/>
                </a:lnTo>
                <a:lnTo>
                  <a:pt x="769054" y="491392"/>
                </a:lnTo>
                <a:lnTo>
                  <a:pt x="790719" y="453946"/>
                </a:lnTo>
                <a:lnTo>
                  <a:pt x="815008" y="418545"/>
                </a:lnTo>
                <a:lnTo>
                  <a:pt x="841756" y="385285"/>
                </a:lnTo>
                <a:lnTo>
                  <a:pt x="870795" y="354262"/>
                </a:lnTo>
                <a:lnTo>
                  <a:pt x="901961" y="325573"/>
                </a:lnTo>
                <a:lnTo>
                  <a:pt x="935087" y="299314"/>
                </a:lnTo>
                <a:lnTo>
                  <a:pt x="970006" y="275583"/>
                </a:lnTo>
                <a:lnTo>
                  <a:pt x="1006553" y="254475"/>
                </a:lnTo>
                <a:lnTo>
                  <a:pt x="1044562" y="236088"/>
                </a:lnTo>
                <a:lnTo>
                  <a:pt x="1083866" y="220517"/>
                </a:lnTo>
                <a:lnTo>
                  <a:pt x="1124300" y="207860"/>
                </a:lnTo>
                <a:lnTo>
                  <a:pt x="1165697" y="198212"/>
                </a:lnTo>
                <a:lnTo>
                  <a:pt x="1208137" y="191652"/>
                </a:lnTo>
                <a:lnTo>
                  <a:pt x="1251212" y="188295"/>
                </a:lnTo>
                <a:lnTo>
                  <a:pt x="1294009" y="188295"/>
                </a:lnTo>
                <a:lnTo>
                  <a:pt x="1337599" y="191652"/>
                </a:lnTo>
                <a:lnTo>
                  <a:pt x="1381322" y="198502"/>
                </a:lnTo>
                <a:lnTo>
                  <a:pt x="1425012" y="208942"/>
                </a:lnTo>
                <a:lnTo>
                  <a:pt x="1468503" y="223067"/>
                </a:lnTo>
                <a:lnTo>
                  <a:pt x="1511628" y="240974"/>
                </a:lnTo>
                <a:lnTo>
                  <a:pt x="2918657" y="240974"/>
                </a:lnTo>
                <a:lnTo>
                  <a:pt x="2983113" y="275583"/>
                </a:lnTo>
                <a:lnTo>
                  <a:pt x="3018032" y="299314"/>
                </a:lnTo>
                <a:lnTo>
                  <a:pt x="3051158" y="325573"/>
                </a:lnTo>
                <a:lnTo>
                  <a:pt x="3081010" y="353053"/>
                </a:lnTo>
                <a:lnTo>
                  <a:pt x="3081010" y="2961896"/>
                </a:lnTo>
                <a:close/>
              </a:path>
              <a:path w="3081019" h="2962275">
                <a:moveTo>
                  <a:pt x="2918657" y="240974"/>
                </a:moveTo>
                <a:lnTo>
                  <a:pt x="2441490" y="240974"/>
                </a:lnTo>
                <a:lnTo>
                  <a:pt x="2484616" y="223067"/>
                </a:lnTo>
                <a:lnTo>
                  <a:pt x="2528107" y="208942"/>
                </a:lnTo>
                <a:lnTo>
                  <a:pt x="2571797" y="198502"/>
                </a:lnTo>
                <a:lnTo>
                  <a:pt x="2615520" y="191652"/>
                </a:lnTo>
                <a:lnTo>
                  <a:pt x="2659110" y="188295"/>
                </a:lnTo>
                <a:lnTo>
                  <a:pt x="2701906" y="188295"/>
                </a:lnTo>
                <a:lnTo>
                  <a:pt x="2744981" y="191652"/>
                </a:lnTo>
                <a:lnTo>
                  <a:pt x="2787421" y="198212"/>
                </a:lnTo>
                <a:lnTo>
                  <a:pt x="2828819" y="207860"/>
                </a:lnTo>
                <a:lnTo>
                  <a:pt x="2869252" y="220517"/>
                </a:lnTo>
                <a:lnTo>
                  <a:pt x="2908557" y="236088"/>
                </a:lnTo>
                <a:lnTo>
                  <a:pt x="2918657" y="240974"/>
                </a:lnTo>
                <a:close/>
              </a:path>
            </a:pathLst>
          </a:custGeom>
          <a:solidFill>
            <a:srgbClr val="33858B"/>
          </a:solidFill>
        </p:spPr>
        <p:txBody>
          <a:bodyPr wrap="square" lIns="0" tIns="0" rIns="0" bIns="0" rtlCol="0"/>
          <a:lstStyle/>
          <a:p>
            <a:endParaRPr/>
          </a:p>
        </p:txBody>
      </p:sp>
      <p:sp>
        <p:nvSpPr>
          <p:cNvPr id="5" name="object 5"/>
          <p:cNvSpPr txBox="1">
            <a:spLocks noGrp="1"/>
          </p:cNvSpPr>
          <p:nvPr>
            <p:ph type="title"/>
          </p:nvPr>
        </p:nvSpPr>
        <p:spPr>
          <a:xfrm>
            <a:off x="5181600" y="4000500"/>
            <a:ext cx="10820400" cy="1600200"/>
          </a:xfrm>
          <a:prstGeom prst="rect">
            <a:avLst/>
          </a:prstGeom>
        </p:spPr>
        <p:txBody>
          <a:bodyPr vert="horz" wrap="square" lIns="0" tIns="616585" rIns="0" bIns="0" rtlCol="0">
            <a:spAutoFit/>
          </a:bodyPr>
          <a:lstStyle/>
          <a:p>
            <a:pPr marL="12700" marR="5080">
              <a:lnSpc>
                <a:spcPct val="78800"/>
              </a:lnSpc>
              <a:spcBef>
                <a:spcPts val="4855"/>
              </a:spcBef>
            </a:pPr>
            <a:r>
              <a:rPr lang="en-US" sz="8000" b="1" spc="-130" dirty="0">
                <a:solidFill>
                  <a:srgbClr val="000000"/>
                </a:solidFill>
                <a:latin typeface="+mn-lt"/>
                <a:cs typeface="Arial MT"/>
              </a:rPr>
              <a:t>THANK YOU</a:t>
            </a:r>
            <a:endParaRPr sz="8000" b="1" dirty="0">
              <a:latin typeface="+mn-lt"/>
              <a:cs typeface="Arial MT"/>
            </a:endParaRPr>
          </a:p>
        </p:txBody>
      </p:sp>
      <p:sp>
        <p:nvSpPr>
          <p:cNvPr id="6" name="object 6"/>
          <p:cNvSpPr/>
          <p:nvPr/>
        </p:nvSpPr>
        <p:spPr>
          <a:xfrm>
            <a:off x="3880128" y="0"/>
            <a:ext cx="3953510" cy="2247265"/>
          </a:xfrm>
          <a:custGeom>
            <a:avLst/>
            <a:gdLst/>
            <a:ahLst/>
            <a:cxnLst/>
            <a:rect l="l" t="t" r="r" b="b"/>
            <a:pathLst>
              <a:path w="3953509" h="2247265">
                <a:moveTo>
                  <a:pt x="1997359" y="2247213"/>
                </a:moveTo>
                <a:lnTo>
                  <a:pt x="1955167" y="2247213"/>
                </a:lnTo>
                <a:lnTo>
                  <a:pt x="1913076" y="2244123"/>
                </a:lnTo>
                <a:lnTo>
                  <a:pt x="1871276" y="2237944"/>
                </a:lnTo>
                <a:lnTo>
                  <a:pt x="1829961" y="2228676"/>
                </a:lnTo>
                <a:lnTo>
                  <a:pt x="1789322" y="2216319"/>
                </a:lnTo>
                <a:lnTo>
                  <a:pt x="1749552" y="2200871"/>
                </a:lnTo>
                <a:lnTo>
                  <a:pt x="1710842" y="2182335"/>
                </a:lnTo>
                <a:lnTo>
                  <a:pt x="1673386" y="2160709"/>
                </a:lnTo>
                <a:lnTo>
                  <a:pt x="1637375" y="2135994"/>
                </a:lnTo>
                <a:lnTo>
                  <a:pt x="1603002" y="2108189"/>
                </a:lnTo>
                <a:lnTo>
                  <a:pt x="1570458" y="2077295"/>
                </a:lnTo>
                <a:lnTo>
                  <a:pt x="1539936" y="2043311"/>
                </a:lnTo>
                <a:lnTo>
                  <a:pt x="1511628" y="2006238"/>
                </a:lnTo>
                <a:lnTo>
                  <a:pt x="1468502" y="2024145"/>
                </a:lnTo>
                <a:lnTo>
                  <a:pt x="1425012" y="2038270"/>
                </a:lnTo>
                <a:lnTo>
                  <a:pt x="1381322" y="2048710"/>
                </a:lnTo>
                <a:lnTo>
                  <a:pt x="1337599" y="2055560"/>
                </a:lnTo>
                <a:lnTo>
                  <a:pt x="1294009" y="2058917"/>
                </a:lnTo>
                <a:lnTo>
                  <a:pt x="1250718" y="2058879"/>
                </a:lnTo>
                <a:lnTo>
                  <a:pt x="1207892" y="2055541"/>
                </a:lnTo>
                <a:lnTo>
                  <a:pt x="1165697" y="2049000"/>
                </a:lnTo>
                <a:lnTo>
                  <a:pt x="1124300" y="2039352"/>
                </a:lnTo>
                <a:lnTo>
                  <a:pt x="1083866" y="2026695"/>
                </a:lnTo>
                <a:lnTo>
                  <a:pt x="1044562" y="2011124"/>
                </a:lnTo>
                <a:lnTo>
                  <a:pt x="1006553" y="1992737"/>
                </a:lnTo>
                <a:lnTo>
                  <a:pt x="970006" y="1971629"/>
                </a:lnTo>
                <a:lnTo>
                  <a:pt x="935086" y="1947898"/>
                </a:lnTo>
                <a:lnTo>
                  <a:pt x="901961" y="1921639"/>
                </a:lnTo>
                <a:lnTo>
                  <a:pt x="870795" y="1892950"/>
                </a:lnTo>
                <a:lnTo>
                  <a:pt x="841756" y="1861928"/>
                </a:lnTo>
                <a:lnTo>
                  <a:pt x="815008" y="1828667"/>
                </a:lnTo>
                <a:lnTo>
                  <a:pt x="790719" y="1793266"/>
                </a:lnTo>
                <a:lnTo>
                  <a:pt x="769054" y="1755820"/>
                </a:lnTo>
                <a:lnTo>
                  <a:pt x="750179" y="1716427"/>
                </a:lnTo>
                <a:lnTo>
                  <a:pt x="734261" y="1675182"/>
                </a:lnTo>
                <a:lnTo>
                  <a:pt x="721465" y="1632183"/>
                </a:lnTo>
                <a:lnTo>
                  <a:pt x="711958" y="1587526"/>
                </a:lnTo>
                <a:lnTo>
                  <a:pt x="705905" y="1541307"/>
                </a:lnTo>
                <a:lnTo>
                  <a:pt x="659686" y="1535254"/>
                </a:lnTo>
                <a:lnTo>
                  <a:pt x="615029" y="1525747"/>
                </a:lnTo>
                <a:lnTo>
                  <a:pt x="572030" y="1512951"/>
                </a:lnTo>
                <a:lnTo>
                  <a:pt x="530785" y="1497033"/>
                </a:lnTo>
                <a:lnTo>
                  <a:pt x="491392" y="1478158"/>
                </a:lnTo>
                <a:lnTo>
                  <a:pt x="453946" y="1456493"/>
                </a:lnTo>
                <a:lnTo>
                  <a:pt x="418545" y="1432204"/>
                </a:lnTo>
                <a:lnTo>
                  <a:pt x="385285" y="1405456"/>
                </a:lnTo>
                <a:lnTo>
                  <a:pt x="354262" y="1376417"/>
                </a:lnTo>
                <a:lnTo>
                  <a:pt x="325573" y="1345251"/>
                </a:lnTo>
                <a:lnTo>
                  <a:pt x="299314" y="1312126"/>
                </a:lnTo>
                <a:lnTo>
                  <a:pt x="275583" y="1277206"/>
                </a:lnTo>
                <a:lnTo>
                  <a:pt x="254475" y="1240659"/>
                </a:lnTo>
                <a:lnTo>
                  <a:pt x="236088" y="1202650"/>
                </a:lnTo>
                <a:lnTo>
                  <a:pt x="220517" y="1163346"/>
                </a:lnTo>
                <a:lnTo>
                  <a:pt x="207860" y="1122912"/>
                </a:lnTo>
                <a:lnTo>
                  <a:pt x="198212" y="1081515"/>
                </a:lnTo>
                <a:lnTo>
                  <a:pt x="191671" y="1039320"/>
                </a:lnTo>
                <a:lnTo>
                  <a:pt x="188333" y="996494"/>
                </a:lnTo>
                <a:lnTo>
                  <a:pt x="188295" y="953203"/>
                </a:lnTo>
                <a:lnTo>
                  <a:pt x="191652" y="909613"/>
                </a:lnTo>
                <a:lnTo>
                  <a:pt x="198502" y="865890"/>
                </a:lnTo>
                <a:lnTo>
                  <a:pt x="208942" y="822200"/>
                </a:lnTo>
                <a:lnTo>
                  <a:pt x="223067" y="778710"/>
                </a:lnTo>
                <a:lnTo>
                  <a:pt x="240974" y="735584"/>
                </a:lnTo>
                <a:lnTo>
                  <a:pt x="203901" y="707185"/>
                </a:lnTo>
                <a:lnTo>
                  <a:pt x="169918" y="676580"/>
                </a:lnTo>
                <a:lnTo>
                  <a:pt x="139023" y="643960"/>
                </a:lnTo>
                <a:lnTo>
                  <a:pt x="111219" y="609518"/>
                </a:lnTo>
                <a:lnTo>
                  <a:pt x="86503" y="573446"/>
                </a:lnTo>
                <a:lnTo>
                  <a:pt x="64877" y="535937"/>
                </a:lnTo>
                <a:lnTo>
                  <a:pt x="46341" y="497182"/>
                </a:lnTo>
                <a:lnTo>
                  <a:pt x="30894" y="457374"/>
                </a:lnTo>
                <a:lnTo>
                  <a:pt x="18536" y="416705"/>
                </a:lnTo>
                <a:lnTo>
                  <a:pt x="9268" y="375367"/>
                </a:lnTo>
                <a:lnTo>
                  <a:pt x="3089" y="333552"/>
                </a:lnTo>
                <a:lnTo>
                  <a:pt x="0" y="291453"/>
                </a:lnTo>
                <a:lnTo>
                  <a:pt x="0" y="249261"/>
                </a:lnTo>
                <a:lnTo>
                  <a:pt x="3089" y="207169"/>
                </a:lnTo>
                <a:lnTo>
                  <a:pt x="9268" y="165370"/>
                </a:lnTo>
                <a:lnTo>
                  <a:pt x="18536" y="124054"/>
                </a:lnTo>
                <a:lnTo>
                  <a:pt x="30894" y="83415"/>
                </a:lnTo>
                <a:lnTo>
                  <a:pt x="46341" y="43645"/>
                </a:lnTo>
                <a:lnTo>
                  <a:pt x="64877" y="4936"/>
                </a:lnTo>
                <a:lnTo>
                  <a:pt x="67727" y="0"/>
                </a:lnTo>
                <a:lnTo>
                  <a:pt x="3885145" y="0"/>
                </a:lnTo>
                <a:lnTo>
                  <a:pt x="3906778" y="44124"/>
                </a:lnTo>
                <a:lnTo>
                  <a:pt x="3922225" y="83932"/>
                </a:lnTo>
                <a:lnTo>
                  <a:pt x="3934582" y="124601"/>
                </a:lnTo>
                <a:lnTo>
                  <a:pt x="3943851" y="165939"/>
                </a:lnTo>
                <a:lnTo>
                  <a:pt x="3950030" y="207754"/>
                </a:lnTo>
                <a:lnTo>
                  <a:pt x="3953119" y="249853"/>
                </a:lnTo>
                <a:lnTo>
                  <a:pt x="3953119" y="292045"/>
                </a:lnTo>
                <a:lnTo>
                  <a:pt x="3950030" y="334137"/>
                </a:lnTo>
                <a:lnTo>
                  <a:pt x="3943851" y="375936"/>
                </a:lnTo>
                <a:lnTo>
                  <a:pt x="3934582" y="417252"/>
                </a:lnTo>
                <a:lnTo>
                  <a:pt x="3922225" y="457890"/>
                </a:lnTo>
                <a:lnTo>
                  <a:pt x="3906778" y="497661"/>
                </a:lnTo>
                <a:lnTo>
                  <a:pt x="3888241" y="536370"/>
                </a:lnTo>
                <a:lnTo>
                  <a:pt x="3866615" y="573826"/>
                </a:lnTo>
                <a:lnTo>
                  <a:pt x="3841900" y="609837"/>
                </a:lnTo>
                <a:lnTo>
                  <a:pt x="3814095" y="644211"/>
                </a:lnTo>
                <a:lnTo>
                  <a:pt x="3783201" y="676754"/>
                </a:lnTo>
                <a:lnTo>
                  <a:pt x="3749217" y="707276"/>
                </a:lnTo>
                <a:lnTo>
                  <a:pt x="3712144" y="735584"/>
                </a:lnTo>
                <a:lnTo>
                  <a:pt x="3730051" y="778710"/>
                </a:lnTo>
                <a:lnTo>
                  <a:pt x="3744177" y="822201"/>
                </a:lnTo>
                <a:lnTo>
                  <a:pt x="3754616" y="865891"/>
                </a:lnTo>
                <a:lnTo>
                  <a:pt x="3761466" y="909614"/>
                </a:lnTo>
                <a:lnTo>
                  <a:pt x="3764824" y="953204"/>
                </a:lnTo>
                <a:lnTo>
                  <a:pt x="3764785" y="996495"/>
                </a:lnTo>
                <a:lnTo>
                  <a:pt x="3761447" y="1039321"/>
                </a:lnTo>
                <a:lnTo>
                  <a:pt x="3754906" y="1081515"/>
                </a:lnTo>
                <a:lnTo>
                  <a:pt x="3745258" y="1122912"/>
                </a:lnTo>
                <a:lnTo>
                  <a:pt x="3732601" y="1163346"/>
                </a:lnTo>
                <a:lnTo>
                  <a:pt x="3717030" y="1202651"/>
                </a:lnTo>
                <a:lnTo>
                  <a:pt x="3698643" y="1240659"/>
                </a:lnTo>
                <a:lnTo>
                  <a:pt x="3677535" y="1277206"/>
                </a:lnTo>
                <a:lnTo>
                  <a:pt x="3653804" y="1312126"/>
                </a:lnTo>
                <a:lnTo>
                  <a:pt x="3627546" y="1345251"/>
                </a:lnTo>
                <a:lnTo>
                  <a:pt x="3598857" y="1376417"/>
                </a:lnTo>
                <a:lnTo>
                  <a:pt x="3567834" y="1405457"/>
                </a:lnTo>
                <a:lnTo>
                  <a:pt x="3534573" y="1432204"/>
                </a:lnTo>
                <a:lnTo>
                  <a:pt x="3499172" y="1456493"/>
                </a:lnTo>
                <a:lnTo>
                  <a:pt x="3461727" y="1478158"/>
                </a:lnTo>
                <a:lnTo>
                  <a:pt x="3422333" y="1497033"/>
                </a:lnTo>
                <a:lnTo>
                  <a:pt x="3381089" y="1512951"/>
                </a:lnTo>
                <a:lnTo>
                  <a:pt x="3338089" y="1525747"/>
                </a:lnTo>
                <a:lnTo>
                  <a:pt x="3293432" y="1535254"/>
                </a:lnTo>
                <a:lnTo>
                  <a:pt x="3247213" y="1541307"/>
                </a:lnTo>
                <a:lnTo>
                  <a:pt x="3241160" y="1587613"/>
                </a:lnTo>
                <a:lnTo>
                  <a:pt x="3231653" y="1632344"/>
                </a:lnTo>
                <a:lnTo>
                  <a:pt x="3218858" y="1675403"/>
                </a:lnTo>
                <a:lnTo>
                  <a:pt x="3202939" y="1716695"/>
                </a:lnTo>
                <a:lnTo>
                  <a:pt x="3184065" y="1756124"/>
                </a:lnTo>
                <a:lnTo>
                  <a:pt x="3162399" y="1793595"/>
                </a:lnTo>
                <a:lnTo>
                  <a:pt x="3138110" y="1829012"/>
                </a:lnTo>
                <a:lnTo>
                  <a:pt x="3111363" y="1862279"/>
                </a:lnTo>
                <a:lnTo>
                  <a:pt x="3082323" y="1893300"/>
                </a:lnTo>
                <a:lnTo>
                  <a:pt x="3051157" y="1921981"/>
                </a:lnTo>
                <a:lnTo>
                  <a:pt x="3018032" y="1948225"/>
                </a:lnTo>
                <a:lnTo>
                  <a:pt x="2983113" y="1971937"/>
                </a:lnTo>
                <a:lnTo>
                  <a:pt x="2946565" y="1993021"/>
                </a:lnTo>
                <a:lnTo>
                  <a:pt x="2908557" y="2011381"/>
                </a:lnTo>
                <a:lnTo>
                  <a:pt x="2869252" y="2026923"/>
                </a:lnTo>
                <a:lnTo>
                  <a:pt x="2828819" y="2039549"/>
                </a:lnTo>
                <a:lnTo>
                  <a:pt x="2787421" y="2049165"/>
                </a:lnTo>
                <a:lnTo>
                  <a:pt x="2745227" y="2055675"/>
                </a:lnTo>
                <a:lnTo>
                  <a:pt x="2702401" y="2058983"/>
                </a:lnTo>
                <a:lnTo>
                  <a:pt x="2659110" y="2058993"/>
                </a:lnTo>
                <a:lnTo>
                  <a:pt x="2615520" y="2055611"/>
                </a:lnTo>
                <a:lnTo>
                  <a:pt x="2571797" y="2048740"/>
                </a:lnTo>
                <a:lnTo>
                  <a:pt x="2528107" y="2038284"/>
                </a:lnTo>
                <a:lnTo>
                  <a:pt x="2484616" y="2024149"/>
                </a:lnTo>
                <a:lnTo>
                  <a:pt x="2441490" y="2006238"/>
                </a:lnTo>
                <a:lnTo>
                  <a:pt x="2413091" y="2043311"/>
                </a:lnTo>
                <a:lnTo>
                  <a:pt x="2382486" y="2077295"/>
                </a:lnTo>
                <a:lnTo>
                  <a:pt x="2349866" y="2108189"/>
                </a:lnTo>
                <a:lnTo>
                  <a:pt x="2315424" y="2135994"/>
                </a:lnTo>
                <a:lnTo>
                  <a:pt x="2279353" y="2160709"/>
                </a:lnTo>
                <a:lnTo>
                  <a:pt x="2241843" y="2182335"/>
                </a:lnTo>
                <a:lnTo>
                  <a:pt x="2203089" y="2200871"/>
                </a:lnTo>
                <a:lnTo>
                  <a:pt x="2163280" y="2216319"/>
                </a:lnTo>
                <a:lnTo>
                  <a:pt x="2122611" y="2228676"/>
                </a:lnTo>
                <a:lnTo>
                  <a:pt x="2081273" y="2237944"/>
                </a:lnTo>
                <a:lnTo>
                  <a:pt x="2039458" y="2244123"/>
                </a:lnTo>
                <a:lnTo>
                  <a:pt x="1997359" y="2247213"/>
                </a:lnTo>
                <a:close/>
              </a:path>
            </a:pathLst>
          </a:custGeom>
          <a:solidFill>
            <a:srgbClr val="33858B"/>
          </a:solidFill>
        </p:spPr>
        <p:txBody>
          <a:bodyPr wrap="square" lIns="0" tIns="0" rIns="0" bIns="0" rtlCol="0"/>
          <a:lstStyle/>
          <a:p>
            <a:endParaRPr/>
          </a:p>
        </p:txBody>
      </p:sp>
      <p:pic>
        <p:nvPicPr>
          <p:cNvPr id="2" name="Picture 1" descr="MAPS &amp; DIRECTIONS - Best Private University in Telangana ...">
            <a:extLst>
              <a:ext uri="{FF2B5EF4-FFF2-40B4-BE49-F238E27FC236}">
                <a16:creationId xmlns:a16="http://schemas.microsoft.com/office/drawing/2014/main" xmlns="" id="{096C54A6-926D-10D1-4350-36E4A5E2FE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42900"/>
            <a:ext cx="3190875" cy="2371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191</TotalTime>
  <Words>1119</Words>
  <Application>Microsoft Office PowerPoint</Application>
  <PresentationFormat>Custom</PresentationFormat>
  <Paragraphs>193</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EXPLAINABLE PREDICTIVE ANALYTICS FOR EMPLOYEE ATTRITION RISK ASSESSMENT</vt:lpstr>
      <vt:lpstr>PowerPoint Presentation</vt:lpstr>
      <vt:lpstr>PowerPoint Presentation</vt:lpstr>
      <vt:lpstr>PROJECT OBJECTIVES</vt:lpstr>
      <vt:lpstr>Literature Survey</vt:lpstr>
      <vt:lpstr> Research Gap Identification</vt:lpstr>
      <vt:lpstr>Innovation</vt:lpstr>
      <vt:lpstr>Creativity</vt:lpstr>
      <vt:lpstr>Novelty</vt:lpstr>
      <vt:lpstr>Feasibility</vt:lpstr>
      <vt:lpstr>Project Plan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Predictive Analytics for Employee Attrition Risk Assessment</dc:title>
  <dc:subject>Applied Machine Learning project presentation</dc:subject>
  <dc:creator>KOGANTI NAVYA 2420030180</dc:creator>
  <cp:keywords>employee attrition, predictive analytics, explainable AI, SHAP, HR analytics</cp:keywords>
  <cp:lastModifiedBy>Admin</cp:lastModifiedBy>
  <cp:revision>12</cp:revision>
  <dcterms:created xsi:type="dcterms:W3CDTF">2026-03-02T18:19:20Z</dcterms:created>
  <dcterms:modified xsi:type="dcterms:W3CDTF">2026-10-30T04:49:40Z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2026-03-02T00:00:00Z</vt:filetime>
  </property>
  <property fmtid="{D5CDD505-2E9C-101B-9397-08002B2CF9AE}" pid="3" name="Creator">
    <vt:lpwstr>Canva</vt:lpwstr>
  </property>
  <property fmtid="{D5CDD505-2E9C-101B-9397-08002B2CF9AE}" pid="4" name="LastSaved">
    <vt:filetime>2026-03-02T00:00:00Z</vt:filetime>
  </property>
  <property fmtid="{D5CDD505-2E9C-101B-9397-08002B2CF9AE}" pid="5" name="Producer">
    <vt:lpwstr>Canva</vt:lpwstr>
  </property>
</Properties>
</file>